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72" r:id="rId2"/>
    <p:sldId id="264" r:id="rId3"/>
    <p:sldId id="275" r:id="rId4"/>
    <p:sldId id="262" r:id="rId5"/>
    <p:sldId id="263" r:id="rId6"/>
    <p:sldId id="257" r:id="rId7"/>
    <p:sldId id="258" r:id="rId8"/>
    <p:sldId id="259" r:id="rId9"/>
    <p:sldId id="276" r:id="rId10"/>
    <p:sldId id="268" r:id="rId11"/>
    <p:sldId id="266" r:id="rId12"/>
    <p:sldId id="277" r:id="rId13"/>
    <p:sldId id="269" r:id="rId14"/>
    <p:sldId id="278" r:id="rId15"/>
    <p:sldId id="271" r:id="rId16"/>
    <p:sldId id="260" r:id="rId17"/>
    <p:sldId id="273" r:id="rId18"/>
    <p:sldId id="261" r:id="rId19"/>
    <p:sldId id="274" r:id="rId20"/>
    <p:sldId id="267" r:id="rId21"/>
    <p:sldId id="27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32" y="6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B5EEF2-B733-41D8-B0C4-8F2F6055CF85}" type="datetimeFigureOut">
              <a:rPr lang="en-US" smtClean="0"/>
              <a:t>6/28/2026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CEBF9E-D574-4AB0-A8AD-159EC9AA6982}" type="slidenum">
              <a:rPr lang="en-US" smtClean="0"/>
              <a:t>‹#›</a:t>
            </a:fld>
            <a:endParaRPr lang="en-US" dirty="0"/>
          </a:p>
        </p:txBody>
      </p:sp>
    </p:spTree>
    <p:extLst>
      <p:ext uri="{BB962C8B-B14F-4D97-AF65-F5344CB8AC3E}">
        <p14:creationId xmlns:p14="http://schemas.microsoft.com/office/powerpoint/2010/main" val="2469225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2D96B-0182-8447-443F-BC7433F033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637A273-9E4C-73C9-7063-75A58F7F6B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E8B042-3C23-AED6-037D-36A7300FB2E7}"/>
              </a:ext>
            </a:extLst>
          </p:cNvPr>
          <p:cNvSpPr>
            <a:spLocks noGrp="1"/>
          </p:cNvSpPr>
          <p:nvPr>
            <p:ph type="dt" sz="half" idx="10"/>
          </p:nvPr>
        </p:nvSpPr>
        <p:spPr/>
        <p:txBody>
          <a:bodyPr/>
          <a:lstStyle/>
          <a:p>
            <a:fld id="{498E4D49-14A8-4F4C-B8F0-75B473E13B67}" type="datetime1">
              <a:rPr lang="en-US" smtClean="0"/>
              <a:t>6/28/2026</a:t>
            </a:fld>
            <a:endParaRPr lang="en-US" dirty="0"/>
          </a:p>
        </p:txBody>
      </p:sp>
      <p:sp>
        <p:nvSpPr>
          <p:cNvPr id="5" name="Footer Placeholder 4">
            <a:extLst>
              <a:ext uri="{FF2B5EF4-FFF2-40B4-BE49-F238E27FC236}">
                <a16:creationId xmlns:a16="http://schemas.microsoft.com/office/drawing/2014/main" id="{C046BAFB-8D8D-E8F3-E2C2-84A8820F503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36BB330-EDD6-2D6B-42C7-731BA164FFBC}"/>
              </a:ext>
            </a:extLst>
          </p:cNvPr>
          <p:cNvSpPr>
            <a:spLocks noGrp="1"/>
          </p:cNvSpPr>
          <p:nvPr>
            <p:ph type="sldNum" sz="quarter" idx="12"/>
          </p:nvPr>
        </p:nvSpPr>
        <p:spPr/>
        <p:txBody>
          <a:bodyPr/>
          <a:lstStyle/>
          <a:p>
            <a:fld id="{9AA8B329-7075-4E8D-B380-2E77929090E4}" type="slidenum">
              <a:rPr lang="en-US" smtClean="0"/>
              <a:t>‹#›</a:t>
            </a:fld>
            <a:endParaRPr lang="en-US" dirty="0"/>
          </a:p>
        </p:txBody>
      </p:sp>
    </p:spTree>
    <p:extLst>
      <p:ext uri="{BB962C8B-B14F-4D97-AF65-F5344CB8AC3E}">
        <p14:creationId xmlns:p14="http://schemas.microsoft.com/office/powerpoint/2010/main" val="830679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4788-6660-B3DE-14F9-6B0FA51616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240E91-B969-47EE-3944-9A1AE3BCD9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1A7AA0-5587-D308-C067-3AE461984427}"/>
              </a:ext>
            </a:extLst>
          </p:cNvPr>
          <p:cNvSpPr>
            <a:spLocks noGrp="1"/>
          </p:cNvSpPr>
          <p:nvPr>
            <p:ph type="dt" sz="half" idx="10"/>
          </p:nvPr>
        </p:nvSpPr>
        <p:spPr/>
        <p:txBody>
          <a:bodyPr/>
          <a:lstStyle/>
          <a:p>
            <a:fld id="{86A9835A-034A-4371-A97C-AC2FE8165E08}" type="datetime1">
              <a:rPr lang="en-US" smtClean="0"/>
              <a:t>6/28/2026</a:t>
            </a:fld>
            <a:endParaRPr lang="en-US" dirty="0"/>
          </a:p>
        </p:txBody>
      </p:sp>
      <p:sp>
        <p:nvSpPr>
          <p:cNvPr id="5" name="Footer Placeholder 4">
            <a:extLst>
              <a:ext uri="{FF2B5EF4-FFF2-40B4-BE49-F238E27FC236}">
                <a16:creationId xmlns:a16="http://schemas.microsoft.com/office/drawing/2014/main" id="{E8DAF5BF-1284-085C-2310-D604B65AF58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2FC3BE-3A27-8B5C-F322-0528C0CFB14B}"/>
              </a:ext>
            </a:extLst>
          </p:cNvPr>
          <p:cNvSpPr>
            <a:spLocks noGrp="1"/>
          </p:cNvSpPr>
          <p:nvPr>
            <p:ph type="sldNum" sz="quarter" idx="12"/>
          </p:nvPr>
        </p:nvSpPr>
        <p:spPr/>
        <p:txBody>
          <a:bodyPr/>
          <a:lstStyle/>
          <a:p>
            <a:fld id="{9AA8B329-7075-4E8D-B380-2E77929090E4}" type="slidenum">
              <a:rPr lang="en-US" smtClean="0"/>
              <a:t>‹#›</a:t>
            </a:fld>
            <a:endParaRPr lang="en-US" dirty="0"/>
          </a:p>
        </p:txBody>
      </p:sp>
    </p:spTree>
    <p:extLst>
      <p:ext uri="{BB962C8B-B14F-4D97-AF65-F5344CB8AC3E}">
        <p14:creationId xmlns:p14="http://schemas.microsoft.com/office/powerpoint/2010/main" val="1939566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CF936-630E-563B-BA41-A3345814C3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476726-4F18-9AAA-1EFB-BBC6A86AF1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C09763-7C47-8350-DA7E-BDFE2FCFD64D}"/>
              </a:ext>
            </a:extLst>
          </p:cNvPr>
          <p:cNvSpPr>
            <a:spLocks noGrp="1"/>
          </p:cNvSpPr>
          <p:nvPr>
            <p:ph type="dt" sz="half" idx="10"/>
          </p:nvPr>
        </p:nvSpPr>
        <p:spPr/>
        <p:txBody>
          <a:bodyPr/>
          <a:lstStyle/>
          <a:p>
            <a:fld id="{B17C9799-50F4-4329-B6CA-FFBDDB72F65A}" type="datetime1">
              <a:rPr lang="en-US" smtClean="0"/>
              <a:t>6/28/2026</a:t>
            </a:fld>
            <a:endParaRPr lang="en-US" dirty="0"/>
          </a:p>
        </p:txBody>
      </p:sp>
      <p:sp>
        <p:nvSpPr>
          <p:cNvPr id="5" name="Footer Placeholder 4">
            <a:extLst>
              <a:ext uri="{FF2B5EF4-FFF2-40B4-BE49-F238E27FC236}">
                <a16:creationId xmlns:a16="http://schemas.microsoft.com/office/drawing/2014/main" id="{9C8261C0-7C88-3BDD-3FD6-E22DF0A7CA1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395A2AB-2201-8004-BE75-F15E249EB9B2}"/>
              </a:ext>
            </a:extLst>
          </p:cNvPr>
          <p:cNvSpPr>
            <a:spLocks noGrp="1"/>
          </p:cNvSpPr>
          <p:nvPr>
            <p:ph type="sldNum" sz="quarter" idx="12"/>
          </p:nvPr>
        </p:nvSpPr>
        <p:spPr/>
        <p:txBody>
          <a:bodyPr/>
          <a:lstStyle/>
          <a:p>
            <a:fld id="{9AA8B329-7075-4E8D-B380-2E77929090E4}" type="slidenum">
              <a:rPr lang="en-US" smtClean="0"/>
              <a:t>‹#›</a:t>
            </a:fld>
            <a:endParaRPr lang="en-US" dirty="0"/>
          </a:p>
        </p:txBody>
      </p:sp>
    </p:spTree>
    <p:extLst>
      <p:ext uri="{BB962C8B-B14F-4D97-AF65-F5344CB8AC3E}">
        <p14:creationId xmlns:p14="http://schemas.microsoft.com/office/powerpoint/2010/main" val="4068057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153BF-0431-519B-71B5-222F065F56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0B8365-8A31-4045-23A5-7EA9C9FFDF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F81083-5121-A5F9-13FF-39DD44D175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E5F663-AD8B-1F6A-4F33-3286F1EF88BA}"/>
              </a:ext>
            </a:extLst>
          </p:cNvPr>
          <p:cNvSpPr>
            <a:spLocks noGrp="1"/>
          </p:cNvSpPr>
          <p:nvPr>
            <p:ph type="dt" sz="half" idx="10"/>
          </p:nvPr>
        </p:nvSpPr>
        <p:spPr/>
        <p:txBody>
          <a:bodyPr/>
          <a:lstStyle/>
          <a:p>
            <a:fld id="{64230881-8035-4E1A-84A5-DB8C52946AA3}" type="datetime1">
              <a:rPr lang="en-US" smtClean="0"/>
              <a:t>6/28/2026</a:t>
            </a:fld>
            <a:endParaRPr lang="en-US" dirty="0"/>
          </a:p>
        </p:txBody>
      </p:sp>
      <p:sp>
        <p:nvSpPr>
          <p:cNvPr id="6" name="Footer Placeholder 5">
            <a:extLst>
              <a:ext uri="{FF2B5EF4-FFF2-40B4-BE49-F238E27FC236}">
                <a16:creationId xmlns:a16="http://schemas.microsoft.com/office/drawing/2014/main" id="{322A6E3C-6528-E6F3-36D7-BD3345AB9FD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7840448-0A2F-D085-1B14-18A4AC2D507F}"/>
              </a:ext>
            </a:extLst>
          </p:cNvPr>
          <p:cNvSpPr>
            <a:spLocks noGrp="1"/>
          </p:cNvSpPr>
          <p:nvPr>
            <p:ph type="sldNum" sz="quarter" idx="12"/>
          </p:nvPr>
        </p:nvSpPr>
        <p:spPr/>
        <p:txBody>
          <a:bodyPr/>
          <a:lstStyle/>
          <a:p>
            <a:fld id="{9AA8B329-7075-4E8D-B380-2E77929090E4}" type="slidenum">
              <a:rPr lang="en-US" smtClean="0"/>
              <a:t>‹#›</a:t>
            </a:fld>
            <a:endParaRPr lang="en-US" dirty="0"/>
          </a:p>
        </p:txBody>
      </p:sp>
    </p:spTree>
    <p:extLst>
      <p:ext uri="{BB962C8B-B14F-4D97-AF65-F5344CB8AC3E}">
        <p14:creationId xmlns:p14="http://schemas.microsoft.com/office/powerpoint/2010/main" val="3418814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EC842-2C8D-8D6D-634D-718F1239B5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98918C-C3B1-E739-0059-D1A01931A4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E57B37-BB06-EA7A-5038-B41BFC8C0A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3FC60E-AA90-15F4-EFD8-10D24F81F5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154A96-48B1-B275-3953-B17E6FC186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A71911-FDA5-53A4-2483-18C8BB36D0D4}"/>
              </a:ext>
            </a:extLst>
          </p:cNvPr>
          <p:cNvSpPr>
            <a:spLocks noGrp="1"/>
          </p:cNvSpPr>
          <p:nvPr>
            <p:ph type="dt" sz="half" idx="10"/>
          </p:nvPr>
        </p:nvSpPr>
        <p:spPr/>
        <p:txBody>
          <a:bodyPr/>
          <a:lstStyle/>
          <a:p>
            <a:fld id="{147CC80B-14FB-4801-939E-D0B83025E923}" type="datetime1">
              <a:rPr lang="en-US" smtClean="0"/>
              <a:t>6/28/2026</a:t>
            </a:fld>
            <a:endParaRPr lang="en-US" dirty="0"/>
          </a:p>
        </p:txBody>
      </p:sp>
      <p:sp>
        <p:nvSpPr>
          <p:cNvPr id="8" name="Footer Placeholder 7">
            <a:extLst>
              <a:ext uri="{FF2B5EF4-FFF2-40B4-BE49-F238E27FC236}">
                <a16:creationId xmlns:a16="http://schemas.microsoft.com/office/drawing/2014/main" id="{A5CF641B-AB60-1A26-FBDF-FA3D5B8645A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E11CB5C-28C3-231B-6404-C0F45FE9B57F}"/>
              </a:ext>
            </a:extLst>
          </p:cNvPr>
          <p:cNvSpPr>
            <a:spLocks noGrp="1"/>
          </p:cNvSpPr>
          <p:nvPr>
            <p:ph type="sldNum" sz="quarter" idx="12"/>
          </p:nvPr>
        </p:nvSpPr>
        <p:spPr/>
        <p:txBody>
          <a:bodyPr/>
          <a:lstStyle/>
          <a:p>
            <a:fld id="{9AA8B329-7075-4E8D-B380-2E77929090E4}" type="slidenum">
              <a:rPr lang="en-US" smtClean="0"/>
              <a:t>‹#›</a:t>
            </a:fld>
            <a:endParaRPr lang="en-US" dirty="0"/>
          </a:p>
        </p:txBody>
      </p:sp>
    </p:spTree>
    <p:extLst>
      <p:ext uri="{BB962C8B-B14F-4D97-AF65-F5344CB8AC3E}">
        <p14:creationId xmlns:p14="http://schemas.microsoft.com/office/powerpoint/2010/main" val="968359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03A1F-9E9D-B79D-2624-18AA1A69BC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8A8289F-9032-3BC2-0D2D-AC134BF0BF67}"/>
              </a:ext>
            </a:extLst>
          </p:cNvPr>
          <p:cNvSpPr>
            <a:spLocks noGrp="1"/>
          </p:cNvSpPr>
          <p:nvPr>
            <p:ph type="dt" sz="half" idx="10"/>
          </p:nvPr>
        </p:nvSpPr>
        <p:spPr/>
        <p:txBody>
          <a:bodyPr/>
          <a:lstStyle/>
          <a:p>
            <a:fld id="{D204D107-7AF9-4E07-89EE-DD3E7F4AC284}" type="datetime1">
              <a:rPr lang="en-US" smtClean="0"/>
              <a:t>6/28/2026</a:t>
            </a:fld>
            <a:endParaRPr lang="en-US" dirty="0"/>
          </a:p>
        </p:txBody>
      </p:sp>
      <p:sp>
        <p:nvSpPr>
          <p:cNvPr id="4" name="Footer Placeholder 3">
            <a:extLst>
              <a:ext uri="{FF2B5EF4-FFF2-40B4-BE49-F238E27FC236}">
                <a16:creationId xmlns:a16="http://schemas.microsoft.com/office/drawing/2014/main" id="{230DE0DC-667F-240F-0F57-4DF190898BD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2D3843D-FBF5-D945-2680-B8F207FF26CE}"/>
              </a:ext>
            </a:extLst>
          </p:cNvPr>
          <p:cNvSpPr>
            <a:spLocks noGrp="1"/>
          </p:cNvSpPr>
          <p:nvPr>
            <p:ph type="sldNum" sz="quarter" idx="12"/>
          </p:nvPr>
        </p:nvSpPr>
        <p:spPr/>
        <p:txBody>
          <a:bodyPr/>
          <a:lstStyle/>
          <a:p>
            <a:fld id="{9AA8B329-7075-4E8D-B380-2E77929090E4}" type="slidenum">
              <a:rPr lang="en-US" smtClean="0"/>
              <a:t>‹#›</a:t>
            </a:fld>
            <a:endParaRPr lang="en-US" dirty="0"/>
          </a:p>
        </p:txBody>
      </p:sp>
    </p:spTree>
    <p:extLst>
      <p:ext uri="{BB962C8B-B14F-4D97-AF65-F5344CB8AC3E}">
        <p14:creationId xmlns:p14="http://schemas.microsoft.com/office/powerpoint/2010/main" val="1543958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A5E995-883E-F235-A1D6-35157E0DA3D3}"/>
              </a:ext>
            </a:extLst>
          </p:cNvPr>
          <p:cNvSpPr>
            <a:spLocks noGrp="1"/>
          </p:cNvSpPr>
          <p:nvPr>
            <p:ph type="dt" sz="half" idx="10"/>
          </p:nvPr>
        </p:nvSpPr>
        <p:spPr/>
        <p:txBody>
          <a:bodyPr/>
          <a:lstStyle/>
          <a:p>
            <a:fld id="{EC804C65-C6BB-4E2A-BA67-8F11AC1A306A}" type="datetime1">
              <a:rPr lang="en-US" smtClean="0"/>
              <a:t>6/28/2026</a:t>
            </a:fld>
            <a:endParaRPr lang="en-US" dirty="0"/>
          </a:p>
        </p:txBody>
      </p:sp>
      <p:sp>
        <p:nvSpPr>
          <p:cNvPr id="3" name="Footer Placeholder 2">
            <a:extLst>
              <a:ext uri="{FF2B5EF4-FFF2-40B4-BE49-F238E27FC236}">
                <a16:creationId xmlns:a16="http://schemas.microsoft.com/office/drawing/2014/main" id="{A87D41E3-441E-1524-65B7-DE8B89E38D4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AB57399-A92C-51D4-DD6E-05959CCD0F09}"/>
              </a:ext>
            </a:extLst>
          </p:cNvPr>
          <p:cNvSpPr>
            <a:spLocks noGrp="1"/>
          </p:cNvSpPr>
          <p:nvPr>
            <p:ph type="sldNum" sz="quarter" idx="12"/>
          </p:nvPr>
        </p:nvSpPr>
        <p:spPr/>
        <p:txBody>
          <a:bodyPr/>
          <a:lstStyle/>
          <a:p>
            <a:fld id="{9AA8B329-7075-4E8D-B380-2E77929090E4}" type="slidenum">
              <a:rPr lang="en-US" smtClean="0"/>
              <a:t>‹#›</a:t>
            </a:fld>
            <a:endParaRPr lang="en-US" dirty="0"/>
          </a:p>
        </p:txBody>
      </p:sp>
    </p:spTree>
    <p:extLst>
      <p:ext uri="{BB962C8B-B14F-4D97-AF65-F5344CB8AC3E}">
        <p14:creationId xmlns:p14="http://schemas.microsoft.com/office/powerpoint/2010/main" val="307055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67A82-33D1-7B96-6FE0-7D0DEEB9C5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9C17F3-6BC5-4E1D-3AAF-4020AE8E6D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6E5A0F-0D5A-391B-917E-98568AF9A6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2232BE-6580-06C5-3036-F1628A07ACE1}"/>
              </a:ext>
            </a:extLst>
          </p:cNvPr>
          <p:cNvSpPr>
            <a:spLocks noGrp="1"/>
          </p:cNvSpPr>
          <p:nvPr>
            <p:ph type="dt" sz="half" idx="10"/>
          </p:nvPr>
        </p:nvSpPr>
        <p:spPr/>
        <p:txBody>
          <a:bodyPr/>
          <a:lstStyle/>
          <a:p>
            <a:fld id="{3565E2F5-9B0C-4912-9B53-E44458A4E4B4}" type="datetime1">
              <a:rPr lang="en-US" smtClean="0"/>
              <a:t>6/28/2026</a:t>
            </a:fld>
            <a:endParaRPr lang="en-US" dirty="0"/>
          </a:p>
        </p:txBody>
      </p:sp>
      <p:sp>
        <p:nvSpPr>
          <p:cNvPr id="6" name="Footer Placeholder 5">
            <a:extLst>
              <a:ext uri="{FF2B5EF4-FFF2-40B4-BE49-F238E27FC236}">
                <a16:creationId xmlns:a16="http://schemas.microsoft.com/office/drawing/2014/main" id="{8658E9EB-A053-E0B6-A750-624DC31B8F4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DB343A8-DAF3-D819-43D4-A7F759C39A5F}"/>
              </a:ext>
            </a:extLst>
          </p:cNvPr>
          <p:cNvSpPr>
            <a:spLocks noGrp="1"/>
          </p:cNvSpPr>
          <p:nvPr>
            <p:ph type="sldNum" sz="quarter" idx="12"/>
          </p:nvPr>
        </p:nvSpPr>
        <p:spPr/>
        <p:txBody>
          <a:bodyPr/>
          <a:lstStyle/>
          <a:p>
            <a:fld id="{9AA8B329-7075-4E8D-B380-2E77929090E4}" type="slidenum">
              <a:rPr lang="en-US" smtClean="0"/>
              <a:t>‹#›</a:t>
            </a:fld>
            <a:endParaRPr lang="en-US" dirty="0"/>
          </a:p>
        </p:txBody>
      </p:sp>
    </p:spTree>
    <p:extLst>
      <p:ext uri="{BB962C8B-B14F-4D97-AF65-F5344CB8AC3E}">
        <p14:creationId xmlns:p14="http://schemas.microsoft.com/office/powerpoint/2010/main" val="3504131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AC4C5-6D29-C10D-5E48-7FC171B19F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1AEA2C-03C1-6E49-D8B6-2659BD4DD4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513C8FAC-A0BE-EDB0-83C2-3FCACF6B9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B2AC7E-AA54-5F0F-CD30-28FA9D5EDA45}"/>
              </a:ext>
            </a:extLst>
          </p:cNvPr>
          <p:cNvSpPr>
            <a:spLocks noGrp="1"/>
          </p:cNvSpPr>
          <p:nvPr>
            <p:ph type="dt" sz="half" idx="10"/>
          </p:nvPr>
        </p:nvSpPr>
        <p:spPr/>
        <p:txBody>
          <a:bodyPr/>
          <a:lstStyle/>
          <a:p>
            <a:fld id="{A8DE5F42-53D1-4830-B364-070A63F55156}" type="datetime1">
              <a:rPr lang="en-US" smtClean="0"/>
              <a:t>6/28/2026</a:t>
            </a:fld>
            <a:endParaRPr lang="en-US" dirty="0"/>
          </a:p>
        </p:txBody>
      </p:sp>
      <p:sp>
        <p:nvSpPr>
          <p:cNvPr id="6" name="Footer Placeholder 5">
            <a:extLst>
              <a:ext uri="{FF2B5EF4-FFF2-40B4-BE49-F238E27FC236}">
                <a16:creationId xmlns:a16="http://schemas.microsoft.com/office/drawing/2014/main" id="{C4DC98FA-2674-6D68-3ABF-E8FB7C25506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079565-1652-5D1B-15E9-C85918F66B6F}"/>
              </a:ext>
            </a:extLst>
          </p:cNvPr>
          <p:cNvSpPr>
            <a:spLocks noGrp="1"/>
          </p:cNvSpPr>
          <p:nvPr>
            <p:ph type="sldNum" sz="quarter" idx="12"/>
          </p:nvPr>
        </p:nvSpPr>
        <p:spPr/>
        <p:txBody>
          <a:bodyPr/>
          <a:lstStyle/>
          <a:p>
            <a:fld id="{9AA8B329-7075-4E8D-B380-2E77929090E4}" type="slidenum">
              <a:rPr lang="en-US" smtClean="0"/>
              <a:t>‹#›</a:t>
            </a:fld>
            <a:endParaRPr lang="en-US" dirty="0"/>
          </a:p>
        </p:txBody>
      </p:sp>
    </p:spTree>
    <p:extLst>
      <p:ext uri="{BB962C8B-B14F-4D97-AF65-F5344CB8AC3E}">
        <p14:creationId xmlns:p14="http://schemas.microsoft.com/office/powerpoint/2010/main" val="37319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0F435-F745-B529-BCCD-27F300B1A2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40194F-871A-935F-E5ED-C7506474EA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B70C94-505C-A608-97E7-647C4F557D8E}"/>
              </a:ext>
            </a:extLst>
          </p:cNvPr>
          <p:cNvSpPr>
            <a:spLocks noGrp="1"/>
          </p:cNvSpPr>
          <p:nvPr>
            <p:ph type="dt" sz="half" idx="10"/>
          </p:nvPr>
        </p:nvSpPr>
        <p:spPr/>
        <p:txBody>
          <a:bodyPr/>
          <a:lstStyle/>
          <a:p>
            <a:fld id="{44E39B19-AECE-4442-AECD-E5FEABE85A56}" type="datetime1">
              <a:rPr lang="en-US" smtClean="0"/>
              <a:t>6/28/2026</a:t>
            </a:fld>
            <a:endParaRPr lang="en-US" dirty="0"/>
          </a:p>
        </p:txBody>
      </p:sp>
      <p:sp>
        <p:nvSpPr>
          <p:cNvPr id="5" name="Footer Placeholder 4">
            <a:extLst>
              <a:ext uri="{FF2B5EF4-FFF2-40B4-BE49-F238E27FC236}">
                <a16:creationId xmlns:a16="http://schemas.microsoft.com/office/drawing/2014/main" id="{9AADA385-D00F-345F-82F6-1D7AE9D347E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7AB471C-CCC5-CFE9-3C35-9E817BCD4E66}"/>
              </a:ext>
            </a:extLst>
          </p:cNvPr>
          <p:cNvSpPr>
            <a:spLocks noGrp="1"/>
          </p:cNvSpPr>
          <p:nvPr>
            <p:ph type="sldNum" sz="quarter" idx="12"/>
          </p:nvPr>
        </p:nvSpPr>
        <p:spPr/>
        <p:txBody>
          <a:bodyPr/>
          <a:lstStyle/>
          <a:p>
            <a:fld id="{9AA8B329-7075-4E8D-B380-2E77929090E4}" type="slidenum">
              <a:rPr lang="en-US" smtClean="0"/>
              <a:t>‹#›</a:t>
            </a:fld>
            <a:endParaRPr lang="en-US" dirty="0"/>
          </a:p>
        </p:txBody>
      </p:sp>
    </p:spTree>
    <p:extLst>
      <p:ext uri="{BB962C8B-B14F-4D97-AF65-F5344CB8AC3E}">
        <p14:creationId xmlns:p14="http://schemas.microsoft.com/office/powerpoint/2010/main" val="2476079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2CBF38-899E-8DE1-ABEE-EB5CA48659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2C35F1-D6D5-13A3-605B-C612BA50DA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350BBC-5792-A6F8-D576-82E1B6B0F5AF}"/>
              </a:ext>
            </a:extLst>
          </p:cNvPr>
          <p:cNvSpPr>
            <a:spLocks noGrp="1"/>
          </p:cNvSpPr>
          <p:nvPr>
            <p:ph type="dt" sz="half" idx="10"/>
          </p:nvPr>
        </p:nvSpPr>
        <p:spPr/>
        <p:txBody>
          <a:bodyPr/>
          <a:lstStyle/>
          <a:p>
            <a:fld id="{2A9ACC7D-4F79-40EB-A539-FE9392E97B04}" type="datetime1">
              <a:rPr lang="en-US" smtClean="0"/>
              <a:t>6/28/2026</a:t>
            </a:fld>
            <a:endParaRPr lang="en-US" dirty="0"/>
          </a:p>
        </p:txBody>
      </p:sp>
      <p:sp>
        <p:nvSpPr>
          <p:cNvPr id="5" name="Footer Placeholder 4">
            <a:extLst>
              <a:ext uri="{FF2B5EF4-FFF2-40B4-BE49-F238E27FC236}">
                <a16:creationId xmlns:a16="http://schemas.microsoft.com/office/drawing/2014/main" id="{68D91714-70E1-A2F9-06B7-9F246A02416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059D269-58EB-7972-86AC-CB085E16E12A}"/>
              </a:ext>
            </a:extLst>
          </p:cNvPr>
          <p:cNvSpPr>
            <a:spLocks noGrp="1"/>
          </p:cNvSpPr>
          <p:nvPr>
            <p:ph type="sldNum" sz="quarter" idx="12"/>
          </p:nvPr>
        </p:nvSpPr>
        <p:spPr/>
        <p:txBody>
          <a:bodyPr/>
          <a:lstStyle/>
          <a:p>
            <a:fld id="{9AA8B329-7075-4E8D-B380-2E77929090E4}" type="slidenum">
              <a:rPr lang="en-US" smtClean="0"/>
              <a:t>‹#›</a:t>
            </a:fld>
            <a:endParaRPr lang="en-US" dirty="0"/>
          </a:p>
        </p:txBody>
      </p:sp>
    </p:spTree>
    <p:extLst>
      <p:ext uri="{BB962C8B-B14F-4D97-AF65-F5344CB8AC3E}">
        <p14:creationId xmlns:p14="http://schemas.microsoft.com/office/powerpoint/2010/main" val="3957401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D496F7-3644-061E-EB6C-836F335803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9F571C2-DAF1-5F48-206D-9AA4A3B055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317A35-5FDC-B6DF-1D64-C3A79695F6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B9A4E8D-631B-44D2-985F-DE1789C08DD5}" type="datetime1">
              <a:rPr lang="en-US" smtClean="0"/>
              <a:t>6/28/2026</a:t>
            </a:fld>
            <a:endParaRPr lang="en-US" dirty="0"/>
          </a:p>
        </p:txBody>
      </p:sp>
      <p:sp>
        <p:nvSpPr>
          <p:cNvPr id="5" name="Footer Placeholder 4">
            <a:extLst>
              <a:ext uri="{FF2B5EF4-FFF2-40B4-BE49-F238E27FC236}">
                <a16:creationId xmlns:a16="http://schemas.microsoft.com/office/drawing/2014/main" id="{C721ABE3-0294-9D11-B5D0-648E8B4A14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04E364C9-DF36-A250-F426-82B0D316EC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A8B329-7075-4E8D-B380-2E77929090E4}" type="slidenum">
              <a:rPr lang="en-US" smtClean="0"/>
              <a:t>‹#›</a:t>
            </a:fld>
            <a:endParaRPr lang="en-US" dirty="0"/>
          </a:p>
        </p:txBody>
      </p:sp>
    </p:spTree>
    <p:extLst>
      <p:ext uri="{BB962C8B-B14F-4D97-AF65-F5344CB8AC3E}">
        <p14:creationId xmlns:p14="http://schemas.microsoft.com/office/powerpoint/2010/main" val="2219600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12C90EB-6EDD-4173-2298-473B44EF15D0}"/>
              </a:ext>
            </a:extLst>
          </p:cNvPr>
          <p:cNvSpPr>
            <a:spLocks noGrp="1"/>
          </p:cNvSpPr>
          <p:nvPr>
            <p:ph type="sldNum" sz="quarter" idx="12"/>
          </p:nvPr>
        </p:nvSpPr>
        <p:spPr/>
        <p:txBody>
          <a:bodyPr/>
          <a:lstStyle/>
          <a:p>
            <a:fld id="{9AA8B329-7075-4E8D-B380-2E77929090E4}" type="slidenum">
              <a:rPr lang="en-US" smtClean="0"/>
              <a:t>1</a:t>
            </a:fld>
            <a:endParaRPr lang="en-US" dirty="0"/>
          </a:p>
        </p:txBody>
      </p:sp>
      <p:sp>
        <p:nvSpPr>
          <p:cNvPr id="5" name="Rectangle: Rounded Corners 4">
            <a:extLst>
              <a:ext uri="{FF2B5EF4-FFF2-40B4-BE49-F238E27FC236}">
                <a16:creationId xmlns:a16="http://schemas.microsoft.com/office/drawing/2014/main" id="{48798DA0-A841-C7F1-9E91-ABB08BA15069}"/>
              </a:ext>
            </a:extLst>
          </p:cNvPr>
          <p:cNvSpPr/>
          <p:nvPr/>
        </p:nvSpPr>
        <p:spPr>
          <a:xfrm>
            <a:off x="5335647" y="3386269"/>
            <a:ext cx="1520705" cy="894303"/>
          </a:xfrm>
          <a:prstGeom prst="roundRect">
            <a:avLst/>
          </a:prstGeom>
          <a:solidFill>
            <a:srgbClr val="00B0F0"/>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Artificial</a:t>
            </a:r>
          </a:p>
          <a:p>
            <a:pPr algn="ctr"/>
            <a:r>
              <a:rPr lang="en-US" b="1" dirty="0">
                <a:solidFill>
                  <a:schemeClr val="tx1"/>
                </a:solidFill>
              </a:rPr>
              <a:t>Intelligence</a:t>
            </a:r>
          </a:p>
        </p:txBody>
      </p:sp>
      <p:sp>
        <p:nvSpPr>
          <p:cNvPr id="6" name="Rectangle: Rounded Corners 5">
            <a:extLst>
              <a:ext uri="{FF2B5EF4-FFF2-40B4-BE49-F238E27FC236}">
                <a16:creationId xmlns:a16="http://schemas.microsoft.com/office/drawing/2014/main" id="{359BFB32-9197-7BCC-DFCA-8A2D5EC0DB82}"/>
              </a:ext>
            </a:extLst>
          </p:cNvPr>
          <p:cNvSpPr/>
          <p:nvPr/>
        </p:nvSpPr>
        <p:spPr>
          <a:xfrm>
            <a:off x="2312781" y="1294602"/>
            <a:ext cx="1520705"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Expert</a:t>
            </a:r>
          </a:p>
          <a:p>
            <a:pPr algn="ctr"/>
            <a:r>
              <a:rPr lang="en-US" b="1" dirty="0">
                <a:solidFill>
                  <a:schemeClr val="tx1"/>
                </a:solidFill>
              </a:rPr>
              <a:t>Systems</a:t>
            </a:r>
          </a:p>
        </p:txBody>
      </p:sp>
      <p:sp>
        <p:nvSpPr>
          <p:cNvPr id="7" name="Rectangle: Rounded Corners 6">
            <a:extLst>
              <a:ext uri="{FF2B5EF4-FFF2-40B4-BE49-F238E27FC236}">
                <a16:creationId xmlns:a16="http://schemas.microsoft.com/office/drawing/2014/main" id="{13C4CE41-4D82-B961-6942-4EFDDCF4FC22}"/>
              </a:ext>
            </a:extLst>
          </p:cNvPr>
          <p:cNvSpPr/>
          <p:nvPr/>
        </p:nvSpPr>
        <p:spPr>
          <a:xfrm>
            <a:off x="2312781" y="2658683"/>
            <a:ext cx="1520705"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Fuzzy</a:t>
            </a:r>
          </a:p>
          <a:p>
            <a:pPr algn="ctr"/>
            <a:r>
              <a:rPr lang="en-US" b="1" dirty="0">
                <a:solidFill>
                  <a:schemeClr val="tx1"/>
                </a:solidFill>
              </a:rPr>
              <a:t>Logic</a:t>
            </a:r>
          </a:p>
        </p:txBody>
      </p:sp>
      <p:sp>
        <p:nvSpPr>
          <p:cNvPr id="8" name="Rectangle: Rounded Corners 7">
            <a:extLst>
              <a:ext uri="{FF2B5EF4-FFF2-40B4-BE49-F238E27FC236}">
                <a16:creationId xmlns:a16="http://schemas.microsoft.com/office/drawing/2014/main" id="{C899C270-F716-F57F-ED13-E7B3809562C9}"/>
              </a:ext>
            </a:extLst>
          </p:cNvPr>
          <p:cNvSpPr/>
          <p:nvPr/>
        </p:nvSpPr>
        <p:spPr>
          <a:xfrm>
            <a:off x="2312781" y="4022764"/>
            <a:ext cx="1520705"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Machine</a:t>
            </a:r>
          </a:p>
          <a:p>
            <a:pPr algn="ctr"/>
            <a:r>
              <a:rPr lang="en-US" b="1" dirty="0">
                <a:solidFill>
                  <a:schemeClr val="tx1"/>
                </a:solidFill>
              </a:rPr>
              <a:t>Learning</a:t>
            </a:r>
          </a:p>
        </p:txBody>
      </p:sp>
      <p:sp>
        <p:nvSpPr>
          <p:cNvPr id="9" name="Rectangle: Rounded Corners 8">
            <a:extLst>
              <a:ext uri="{FF2B5EF4-FFF2-40B4-BE49-F238E27FC236}">
                <a16:creationId xmlns:a16="http://schemas.microsoft.com/office/drawing/2014/main" id="{DFC9A773-0D3D-7A1C-DD36-EFB28DBC5500}"/>
              </a:ext>
            </a:extLst>
          </p:cNvPr>
          <p:cNvSpPr/>
          <p:nvPr/>
        </p:nvSpPr>
        <p:spPr>
          <a:xfrm>
            <a:off x="2312781" y="5386846"/>
            <a:ext cx="1520705"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Neural</a:t>
            </a:r>
          </a:p>
          <a:p>
            <a:pPr algn="ctr"/>
            <a:r>
              <a:rPr lang="en-US" b="1" dirty="0">
                <a:solidFill>
                  <a:schemeClr val="tx1"/>
                </a:solidFill>
              </a:rPr>
              <a:t>Networks</a:t>
            </a:r>
          </a:p>
        </p:txBody>
      </p:sp>
      <p:sp>
        <p:nvSpPr>
          <p:cNvPr id="10" name="Rectangle: Rounded Corners 9">
            <a:extLst>
              <a:ext uri="{FF2B5EF4-FFF2-40B4-BE49-F238E27FC236}">
                <a16:creationId xmlns:a16="http://schemas.microsoft.com/office/drawing/2014/main" id="{99411B38-EB7E-C1A3-8B77-B1C63865A205}"/>
              </a:ext>
            </a:extLst>
          </p:cNvPr>
          <p:cNvSpPr/>
          <p:nvPr/>
        </p:nvSpPr>
        <p:spPr>
          <a:xfrm>
            <a:off x="8352329" y="1294602"/>
            <a:ext cx="2395602" cy="894303"/>
          </a:xfrm>
          <a:prstGeom prst="roundRect">
            <a:avLst/>
          </a:prstGeom>
          <a:solidFill>
            <a:schemeClr val="accent6">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Intelligent Robotics and Vision Systems</a:t>
            </a:r>
          </a:p>
        </p:txBody>
      </p:sp>
      <p:sp>
        <p:nvSpPr>
          <p:cNvPr id="11" name="Rectangle: Rounded Corners 10">
            <a:extLst>
              <a:ext uri="{FF2B5EF4-FFF2-40B4-BE49-F238E27FC236}">
                <a16:creationId xmlns:a16="http://schemas.microsoft.com/office/drawing/2014/main" id="{D3F37FA7-3F04-2BDF-64D9-5E8056743030}"/>
              </a:ext>
            </a:extLst>
          </p:cNvPr>
          <p:cNvSpPr/>
          <p:nvPr/>
        </p:nvSpPr>
        <p:spPr>
          <a:xfrm>
            <a:off x="8352329" y="2658683"/>
            <a:ext cx="2395602" cy="894303"/>
          </a:xfrm>
          <a:prstGeom prst="roundRect">
            <a:avLst/>
          </a:prstGeom>
          <a:solidFill>
            <a:schemeClr val="accent6">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IoT and Intelligent Distributed Agents</a:t>
            </a:r>
          </a:p>
        </p:txBody>
      </p:sp>
      <p:sp>
        <p:nvSpPr>
          <p:cNvPr id="14" name="Rectangle: Rounded Corners 13">
            <a:extLst>
              <a:ext uri="{FF2B5EF4-FFF2-40B4-BE49-F238E27FC236}">
                <a16:creationId xmlns:a16="http://schemas.microsoft.com/office/drawing/2014/main" id="{100459D6-6E0F-D124-C212-0480F8F64068}"/>
              </a:ext>
            </a:extLst>
          </p:cNvPr>
          <p:cNvSpPr/>
          <p:nvPr/>
        </p:nvSpPr>
        <p:spPr>
          <a:xfrm>
            <a:off x="8352329" y="5300953"/>
            <a:ext cx="2395602" cy="894303"/>
          </a:xfrm>
          <a:prstGeom prst="roundRect">
            <a:avLst/>
          </a:prstGeom>
          <a:solidFill>
            <a:schemeClr val="accent6">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Intelligent City</a:t>
            </a:r>
          </a:p>
        </p:txBody>
      </p:sp>
      <p:sp>
        <p:nvSpPr>
          <p:cNvPr id="15" name="Rectangle: Rounded Corners 14">
            <a:extLst>
              <a:ext uri="{FF2B5EF4-FFF2-40B4-BE49-F238E27FC236}">
                <a16:creationId xmlns:a16="http://schemas.microsoft.com/office/drawing/2014/main" id="{29A2BDE2-536D-3495-B577-84CEB28AE024}"/>
              </a:ext>
            </a:extLst>
          </p:cNvPr>
          <p:cNvSpPr/>
          <p:nvPr/>
        </p:nvSpPr>
        <p:spPr>
          <a:xfrm>
            <a:off x="5335647" y="1294602"/>
            <a:ext cx="1520705" cy="894303"/>
          </a:xfrm>
          <a:prstGeom prst="roundRect">
            <a:avLst/>
          </a:prstGeom>
          <a:solidFill>
            <a:schemeClr val="accent2">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AutoML</a:t>
            </a:r>
          </a:p>
        </p:txBody>
      </p:sp>
      <p:sp>
        <p:nvSpPr>
          <p:cNvPr id="18" name="Rectangle: Rounded Corners 17">
            <a:extLst>
              <a:ext uri="{FF2B5EF4-FFF2-40B4-BE49-F238E27FC236}">
                <a16:creationId xmlns:a16="http://schemas.microsoft.com/office/drawing/2014/main" id="{50BC2C4C-AE54-DB75-4741-E154D1E1CE99}"/>
              </a:ext>
            </a:extLst>
          </p:cNvPr>
          <p:cNvSpPr/>
          <p:nvPr/>
        </p:nvSpPr>
        <p:spPr>
          <a:xfrm>
            <a:off x="5335647" y="5386845"/>
            <a:ext cx="1520705" cy="894303"/>
          </a:xfrm>
          <a:prstGeom prst="roundRect">
            <a:avLst/>
          </a:prstGeom>
          <a:solidFill>
            <a:schemeClr val="accent2">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AI Agents</a:t>
            </a:r>
          </a:p>
        </p:txBody>
      </p:sp>
      <p:sp>
        <p:nvSpPr>
          <p:cNvPr id="19" name="Rectangle: Rounded Corners 18">
            <a:extLst>
              <a:ext uri="{FF2B5EF4-FFF2-40B4-BE49-F238E27FC236}">
                <a16:creationId xmlns:a16="http://schemas.microsoft.com/office/drawing/2014/main" id="{8EDF1E55-A145-D6EE-882B-0B5BDE181B11}"/>
              </a:ext>
            </a:extLst>
          </p:cNvPr>
          <p:cNvSpPr/>
          <p:nvPr/>
        </p:nvSpPr>
        <p:spPr>
          <a:xfrm>
            <a:off x="8352329" y="4022764"/>
            <a:ext cx="2395602" cy="894303"/>
          </a:xfrm>
          <a:prstGeom prst="roundRect">
            <a:avLst/>
          </a:prstGeom>
          <a:solidFill>
            <a:schemeClr val="accent6">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Machine Learning in </a:t>
            </a:r>
            <a:r>
              <a:rPr lang="en-US" b="1">
                <a:solidFill>
                  <a:schemeClr val="tx1"/>
                </a:solidFill>
              </a:rPr>
              <a:t>Chips and </a:t>
            </a:r>
            <a:r>
              <a:rPr lang="en-US" b="1" dirty="0">
                <a:solidFill>
                  <a:schemeClr val="tx1"/>
                </a:solidFill>
              </a:rPr>
              <a:t>Hardware</a:t>
            </a:r>
          </a:p>
        </p:txBody>
      </p:sp>
      <p:cxnSp>
        <p:nvCxnSpPr>
          <p:cNvPr id="21" name="Connector: Elbow 20">
            <a:extLst>
              <a:ext uri="{FF2B5EF4-FFF2-40B4-BE49-F238E27FC236}">
                <a16:creationId xmlns:a16="http://schemas.microsoft.com/office/drawing/2014/main" id="{BD6A7364-ADB9-9581-F3CF-7CEDE751B6DF}"/>
              </a:ext>
            </a:extLst>
          </p:cNvPr>
          <p:cNvCxnSpPr>
            <a:stCxn id="6" idx="3"/>
            <a:endCxn id="5" idx="1"/>
          </p:cNvCxnSpPr>
          <p:nvPr/>
        </p:nvCxnSpPr>
        <p:spPr>
          <a:xfrm>
            <a:off x="3833486" y="1741754"/>
            <a:ext cx="1502161" cy="2091667"/>
          </a:xfrm>
          <a:prstGeom prst="bentConnector3">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Elbow 22">
            <a:extLst>
              <a:ext uri="{FF2B5EF4-FFF2-40B4-BE49-F238E27FC236}">
                <a16:creationId xmlns:a16="http://schemas.microsoft.com/office/drawing/2014/main" id="{7B6D79D1-4F34-FF5C-ED1D-E4C32663FD9B}"/>
              </a:ext>
            </a:extLst>
          </p:cNvPr>
          <p:cNvCxnSpPr>
            <a:stCxn id="9" idx="3"/>
            <a:endCxn id="5" idx="1"/>
          </p:cNvCxnSpPr>
          <p:nvPr/>
        </p:nvCxnSpPr>
        <p:spPr>
          <a:xfrm flipV="1">
            <a:off x="3833486" y="3833421"/>
            <a:ext cx="1502161" cy="2000577"/>
          </a:xfrm>
          <a:prstGeom prst="bentConnector3">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7569F16-5A8B-BC37-8C77-C2E545192FA9}"/>
              </a:ext>
            </a:extLst>
          </p:cNvPr>
          <p:cNvCxnSpPr>
            <a:cxnSpLocks/>
          </p:cNvCxnSpPr>
          <p:nvPr/>
        </p:nvCxnSpPr>
        <p:spPr>
          <a:xfrm>
            <a:off x="3833486" y="3105834"/>
            <a:ext cx="748344"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93EFAF59-4D81-C147-8CA3-2344F06B6793}"/>
              </a:ext>
            </a:extLst>
          </p:cNvPr>
          <p:cNvCxnSpPr>
            <a:cxnSpLocks/>
          </p:cNvCxnSpPr>
          <p:nvPr/>
        </p:nvCxnSpPr>
        <p:spPr>
          <a:xfrm>
            <a:off x="3833486" y="4457771"/>
            <a:ext cx="748344"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Connector: Elbow 30">
            <a:extLst>
              <a:ext uri="{FF2B5EF4-FFF2-40B4-BE49-F238E27FC236}">
                <a16:creationId xmlns:a16="http://schemas.microsoft.com/office/drawing/2014/main" id="{D81FB853-6A05-751C-ED1B-A98065C1B0C1}"/>
              </a:ext>
            </a:extLst>
          </p:cNvPr>
          <p:cNvCxnSpPr>
            <a:stCxn id="10" idx="1"/>
            <a:endCxn id="5" idx="3"/>
          </p:cNvCxnSpPr>
          <p:nvPr/>
        </p:nvCxnSpPr>
        <p:spPr>
          <a:xfrm rot="10800000" flipV="1">
            <a:off x="6856353" y="1741753"/>
            <a:ext cx="1495977" cy="2091667"/>
          </a:xfrm>
          <a:prstGeom prst="bentConnector3">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Elbow 32">
            <a:extLst>
              <a:ext uri="{FF2B5EF4-FFF2-40B4-BE49-F238E27FC236}">
                <a16:creationId xmlns:a16="http://schemas.microsoft.com/office/drawing/2014/main" id="{2760FDAD-89DD-E504-A8B6-82F63C99AF98}"/>
              </a:ext>
            </a:extLst>
          </p:cNvPr>
          <p:cNvCxnSpPr>
            <a:stCxn id="14" idx="1"/>
            <a:endCxn id="5" idx="3"/>
          </p:cNvCxnSpPr>
          <p:nvPr/>
        </p:nvCxnSpPr>
        <p:spPr>
          <a:xfrm rot="10800000">
            <a:off x="6856353" y="3833421"/>
            <a:ext cx="1495977" cy="1914684"/>
          </a:xfrm>
          <a:prstGeom prst="bentConnector3">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4BE60B47-5A1E-E6C3-13C8-96D10DF1475C}"/>
              </a:ext>
            </a:extLst>
          </p:cNvPr>
          <p:cNvCxnSpPr>
            <a:stCxn id="15" idx="2"/>
            <a:endCxn id="5" idx="0"/>
          </p:cNvCxnSpPr>
          <p:nvPr/>
        </p:nvCxnSpPr>
        <p:spPr>
          <a:xfrm>
            <a:off x="6096000" y="2188905"/>
            <a:ext cx="0" cy="119736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6362213B-2670-3CD6-6350-3F63AD62536D}"/>
              </a:ext>
            </a:extLst>
          </p:cNvPr>
          <p:cNvCxnSpPr>
            <a:stCxn id="18" idx="0"/>
            <a:endCxn id="5" idx="2"/>
          </p:cNvCxnSpPr>
          <p:nvPr/>
        </p:nvCxnSpPr>
        <p:spPr>
          <a:xfrm flipV="1">
            <a:off x="6096000" y="4280572"/>
            <a:ext cx="0" cy="1106273"/>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5B3E213A-F1FC-0FFC-164D-AA7DF4DB81A8}"/>
              </a:ext>
            </a:extLst>
          </p:cNvPr>
          <p:cNvCxnSpPr>
            <a:cxnSpLocks/>
          </p:cNvCxnSpPr>
          <p:nvPr/>
        </p:nvCxnSpPr>
        <p:spPr>
          <a:xfrm>
            <a:off x="7603985" y="3105834"/>
            <a:ext cx="748344"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B7E19842-4D1D-6615-C807-276E042FF5CC}"/>
              </a:ext>
            </a:extLst>
          </p:cNvPr>
          <p:cNvCxnSpPr>
            <a:cxnSpLocks/>
          </p:cNvCxnSpPr>
          <p:nvPr/>
        </p:nvCxnSpPr>
        <p:spPr>
          <a:xfrm>
            <a:off x="7603985" y="4457771"/>
            <a:ext cx="748344"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1D0BBDA2-E937-A673-F619-F78421475BFB}"/>
              </a:ext>
            </a:extLst>
          </p:cNvPr>
          <p:cNvSpPr txBox="1"/>
          <p:nvPr/>
        </p:nvSpPr>
        <p:spPr>
          <a:xfrm>
            <a:off x="11069052" y="-17296"/>
            <a:ext cx="1103195" cy="307777"/>
          </a:xfrm>
          <a:prstGeom prst="rect">
            <a:avLst/>
          </a:prstGeom>
          <a:noFill/>
        </p:spPr>
        <p:txBody>
          <a:bodyPr wrap="square">
            <a:spAutoFit/>
          </a:bodyPr>
          <a:lstStyle/>
          <a:p>
            <a:pPr algn="ctr"/>
            <a:r>
              <a:rPr lang="en-US" sz="1400" b="1" dirty="0"/>
              <a:t>Version 7.0</a:t>
            </a:r>
          </a:p>
        </p:txBody>
      </p:sp>
      <p:sp>
        <p:nvSpPr>
          <p:cNvPr id="41" name="TextBox 40">
            <a:extLst>
              <a:ext uri="{FF2B5EF4-FFF2-40B4-BE49-F238E27FC236}">
                <a16:creationId xmlns:a16="http://schemas.microsoft.com/office/drawing/2014/main" id="{17A1E13C-ADC1-3933-6A38-C620600AEA68}"/>
              </a:ext>
            </a:extLst>
          </p:cNvPr>
          <p:cNvSpPr txBox="1"/>
          <p:nvPr/>
        </p:nvSpPr>
        <p:spPr>
          <a:xfrm>
            <a:off x="3158613" y="-17296"/>
            <a:ext cx="5874774" cy="892552"/>
          </a:xfrm>
          <a:prstGeom prst="rect">
            <a:avLst/>
          </a:prstGeom>
          <a:noFill/>
        </p:spPr>
        <p:txBody>
          <a:bodyPr wrap="square">
            <a:spAutoFit/>
          </a:bodyPr>
          <a:lstStyle/>
          <a:p>
            <a:pPr algn="ctr"/>
            <a:r>
              <a:rPr lang="it-IT" sz="2400" b="1" dirty="0"/>
              <a:t>ITAI 1370 – Artificial Intelligence</a:t>
            </a:r>
            <a:br>
              <a:rPr lang="it-IT" sz="2400" dirty="0"/>
            </a:br>
            <a:r>
              <a:rPr lang="it-IT" sz="2800" b="1" dirty="0"/>
              <a:t>Lecture 2: AI Glossary Kickstart</a:t>
            </a:r>
            <a:endParaRPr lang="en-US" sz="2800" b="1" dirty="0"/>
          </a:p>
        </p:txBody>
      </p:sp>
      <p:grpSp>
        <p:nvGrpSpPr>
          <p:cNvPr id="42" name="Group 41">
            <a:extLst>
              <a:ext uri="{FF2B5EF4-FFF2-40B4-BE49-F238E27FC236}">
                <a16:creationId xmlns:a16="http://schemas.microsoft.com/office/drawing/2014/main" id="{9A19A20A-ACDB-2A67-A793-544F6DD66D4F}"/>
              </a:ext>
            </a:extLst>
          </p:cNvPr>
          <p:cNvGrpSpPr/>
          <p:nvPr/>
        </p:nvGrpSpPr>
        <p:grpSpPr>
          <a:xfrm>
            <a:off x="0" y="0"/>
            <a:ext cx="1811852" cy="1478009"/>
            <a:chOff x="89307" y="-17296"/>
            <a:chExt cx="1811852" cy="1478009"/>
          </a:xfrm>
        </p:grpSpPr>
        <p:pic>
          <p:nvPicPr>
            <p:cNvPr id="43" name="Picture 42">
              <a:extLst>
                <a:ext uri="{FF2B5EF4-FFF2-40B4-BE49-F238E27FC236}">
                  <a16:creationId xmlns:a16="http://schemas.microsoft.com/office/drawing/2014/main" id="{4ED44D90-B114-3624-BED6-D03AFC263A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07" y="-17296"/>
              <a:ext cx="1811852" cy="1108677"/>
            </a:xfrm>
            <a:prstGeom prst="rect">
              <a:avLst/>
            </a:prstGeom>
          </p:spPr>
        </p:pic>
        <p:sp>
          <p:nvSpPr>
            <p:cNvPr id="44" name="TextBox 43">
              <a:extLst>
                <a:ext uri="{FF2B5EF4-FFF2-40B4-BE49-F238E27FC236}">
                  <a16:creationId xmlns:a16="http://schemas.microsoft.com/office/drawing/2014/main" id="{29A1443A-E999-5DE0-FFCF-47308EC948F5}"/>
                </a:ext>
              </a:extLst>
            </p:cNvPr>
            <p:cNvSpPr txBox="1"/>
            <p:nvPr/>
          </p:nvSpPr>
          <p:spPr>
            <a:xfrm>
              <a:off x="89307" y="1091381"/>
              <a:ext cx="1811852" cy="369332"/>
            </a:xfrm>
            <a:prstGeom prst="rect">
              <a:avLst/>
            </a:prstGeom>
            <a:noFill/>
          </p:spPr>
          <p:txBody>
            <a:bodyPr wrap="square">
              <a:spAutoFit/>
            </a:bodyPr>
            <a:lstStyle/>
            <a:p>
              <a:pPr algn="ctr"/>
              <a:r>
                <a:rPr lang="en-US" b="1" dirty="0"/>
                <a:t>Team Tiger</a:t>
              </a:r>
            </a:p>
          </p:txBody>
        </p:sp>
      </p:grpSp>
    </p:spTree>
    <p:extLst>
      <p:ext uri="{BB962C8B-B14F-4D97-AF65-F5344CB8AC3E}">
        <p14:creationId xmlns:p14="http://schemas.microsoft.com/office/powerpoint/2010/main" val="1282800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00805-1E70-7C15-BB80-2A68C230CD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975601F-1FE0-2E6A-59D0-E9434BDD23F8}"/>
              </a:ext>
            </a:extLst>
          </p:cNvPr>
          <p:cNvSpPr txBox="1"/>
          <p:nvPr/>
        </p:nvSpPr>
        <p:spPr>
          <a:xfrm>
            <a:off x="5428317" y="0"/>
            <a:ext cx="1335366" cy="461665"/>
          </a:xfrm>
          <a:prstGeom prst="rect">
            <a:avLst/>
          </a:prstGeom>
          <a:noFill/>
        </p:spPr>
        <p:txBody>
          <a:bodyPr wrap="none" rtlCol="0">
            <a:spAutoFit/>
          </a:bodyPr>
          <a:lstStyle/>
          <a:p>
            <a:r>
              <a:rPr lang="en-US" sz="2400" b="1" dirty="0"/>
              <a:t>AI Agent</a:t>
            </a:r>
          </a:p>
        </p:txBody>
      </p:sp>
      <p:sp>
        <p:nvSpPr>
          <p:cNvPr id="3" name="TextBox 2">
            <a:extLst>
              <a:ext uri="{FF2B5EF4-FFF2-40B4-BE49-F238E27FC236}">
                <a16:creationId xmlns:a16="http://schemas.microsoft.com/office/drawing/2014/main" id="{CAE0E361-45D8-9784-9EF5-D70EB6F06A08}"/>
              </a:ext>
            </a:extLst>
          </p:cNvPr>
          <p:cNvSpPr txBox="1"/>
          <p:nvPr/>
        </p:nvSpPr>
        <p:spPr>
          <a:xfrm>
            <a:off x="412955" y="818406"/>
            <a:ext cx="11366089" cy="923330"/>
          </a:xfrm>
          <a:prstGeom prst="rect">
            <a:avLst/>
          </a:prstGeom>
          <a:noFill/>
        </p:spPr>
        <p:txBody>
          <a:bodyPr wrap="square" rtlCol="0">
            <a:spAutoFit/>
          </a:bodyPr>
          <a:lstStyle/>
          <a:p>
            <a:pPr algn="just"/>
            <a:r>
              <a:rPr lang="en-US" dirty="0"/>
              <a:t>An AI Agent is a software system that can perceive its environment, make decisions, and take actions to achieve a goal.  Unlike a traditional program that only follows fixed instructions, an AI agent can adapt its behavior based on new information.</a:t>
            </a:r>
          </a:p>
        </p:txBody>
      </p:sp>
      <p:sp>
        <p:nvSpPr>
          <p:cNvPr id="4" name="Slide Number Placeholder 3">
            <a:extLst>
              <a:ext uri="{FF2B5EF4-FFF2-40B4-BE49-F238E27FC236}">
                <a16:creationId xmlns:a16="http://schemas.microsoft.com/office/drawing/2014/main" id="{D7352186-0B67-1CD0-55D4-90D4D4638E6F}"/>
              </a:ext>
            </a:extLst>
          </p:cNvPr>
          <p:cNvSpPr>
            <a:spLocks noGrp="1"/>
          </p:cNvSpPr>
          <p:nvPr>
            <p:ph type="sldNum" sz="quarter" idx="12"/>
          </p:nvPr>
        </p:nvSpPr>
        <p:spPr/>
        <p:txBody>
          <a:bodyPr/>
          <a:lstStyle/>
          <a:p>
            <a:fld id="{9AA8B329-7075-4E8D-B380-2E77929090E4}" type="slidenum">
              <a:rPr lang="en-US" smtClean="0"/>
              <a:t>2</a:t>
            </a:fld>
            <a:endParaRPr lang="en-US" dirty="0"/>
          </a:p>
        </p:txBody>
      </p:sp>
      <p:sp>
        <p:nvSpPr>
          <p:cNvPr id="6" name="TextBox 5">
            <a:extLst>
              <a:ext uri="{FF2B5EF4-FFF2-40B4-BE49-F238E27FC236}">
                <a16:creationId xmlns:a16="http://schemas.microsoft.com/office/drawing/2014/main" id="{E6350792-FF87-D868-CD69-B70C16D15DA1}"/>
              </a:ext>
            </a:extLst>
          </p:cNvPr>
          <p:cNvSpPr txBox="1"/>
          <p:nvPr/>
        </p:nvSpPr>
        <p:spPr>
          <a:xfrm>
            <a:off x="412955" y="1813173"/>
            <a:ext cx="11366088" cy="3693319"/>
          </a:xfrm>
          <a:prstGeom prst="rect">
            <a:avLst/>
          </a:prstGeom>
          <a:noFill/>
        </p:spPr>
        <p:txBody>
          <a:bodyPr wrap="square">
            <a:spAutoFit/>
          </a:bodyPr>
          <a:lstStyle/>
          <a:p>
            <a:r>
              <a:rPr lang="en-US" b="1" dirty="0"/>
              <a:t>Four Basic Components of an AI Agent</a:t>
            </a:r>
          </a:p>
          <a:p>
            <a:endParaRPr lang="en-US" b="1" dirty="0"/>
          </a:p>
          <a:p>
            <a:r>
              <a:rPr lang="en-US" b="1" dirty="0"/>
              <a:t>Perception:</a:t>
            </a:r>
            <a:r>
              <a:rPr lang="en-US" dirty="0"/>
              <a:t> Perceive the Environment</a:t>
            </a:r>
          </a:p>
          <a:p>
            <a:r>
              <a:rPr lang="en-US" dirty="0"/>
              <a:t>Example Camera, Microphone, and Sensors</a:t>
            </a:r>
          </a:p>
          <a:p>
            <a:endParaRPr lang="en-US" dirty="0"/>
          </a:p>
          <a:p>
            <a:r>
              <a:rPr lang="en-US" b="1" dirty="0"/>
              <a:t>Reasoning</a:t>
            </a:r>
            <a:r>
              <a:rPr lang="en-US" dirty="0"/>
              <a:t>: Analyze Information</a:t>
            </a:r>
          </a:p>
          <a:p>
            <a:r>
              <a:rPr lang="en-US" dirty="0"/>
              <a:t>Example: Machine Learning Models</a:t>
            </a:r>
          </a:p>
          <a:p>
            <a:endParaRPr lang="en-US" dirty="0"/>
          </a:p>
          <a:p>
            <a:r>
              <a:rPr lang="en-US" b="1" dirty="0"/>
              <a:t>Decision Making: </a:t>
            </a:r>
            <a:r>
              <a:rPr lang="en-US" dirty="0"/>
              <a:t>Select the Best Action</a:t>
            </a:r>
          </a:p>
          <a:p>
            <a:r>
              <a:rPr lang="en-US" dirty="0"/>
              <a:t>Example: Choose the Fastest Route</a:t>
            </a:r>
          </a:p>
          <a:p>
            <a:endParaRPr lang="en-US" dirty="0"/>
          </a:p>
          <a:p>
            <a:r>
              <a:rPr lang="en-US" b="1" dirty="0"/>
              <a:t>Action:</a:t>
            </a:r>
            <a:r>
              <a:rPr lang="en-US" dirty="0"/>
              <a:t> Perform Task</a:t>
            </a:r>
          </a:p>
          <a:p>
            <a:r>
              <a:rPr lang="en-US" dirty="0"/>
              <a:t>Example: Drive, Answer a Question, and Send an email</a:t>
            </a:r>
          </a:p>
        </p:txBody>
      </p:sp>
      <p:sp>
        <p:nvSpPr>
          <p:cNvPr id="8" name="TextBox 7">
            <a:extLst>
              <a:ext uri="{FF2B5EF4-FFF2-40B4-BE49-F238E27FC236}">
                <a16:creationId xmlns:a16="http://schemas.microsoft.com/office/drawing/2014/main" id="{60F2057D-BC10-3FDB-E001-F9714B6404D7}"/>
              </a:ext>
            </a:extLst>
          </p:cNvPr>
          <p:cNvSpPr txBox="1"/>
          <p:nvPr/>
        </p:nvSpPr>
        <p:spPr>
          <a:xfrm>
            <a:off x="412955" y="5577929"/>
            <a:ext cx="11366088" cy="923330"/>
          </a:xfrm>
          <a:prstGeom prst="rect">
            <a:avLst/>
          </a:prstGeom>
          <a:noFill/>
        </p:spPr>
        <p:txBody>
          <a:bodyPr wrap="square">
            <a:spAutoFit/>
          </a:bodyPr>
          <a:lstStyle/>
          <a:p>
            <a:r>
              <a:rPr lang="en-US" b="1" dirty="0"/>
              <a:t>Real World Example: Self-Driving Car</a:t>
            </a:r>
          </a:p>
          <a:p>
            <a:r>
              <a:rPr lang="en-US" dirty="0"/>
              <a:t>The Smart Car detects roads, pedestrians, plans a route, and control steering, braking, and acceleration.</a:t>
            </a:r>
          </a:p>
          <a:p>
            <a:r>
              <a:rPr lang="en-US" b="1" dirty="0"/>
              <a:t>Goal</a:t>
            </a:r>
            <a:r>
              <a:rPr lang="en-US" dirty="0"/>
              <a:t>: Safely Transport Passengers.</a:t>
            </a:r>
          </a:p>
        </p:txBody>
      </p:sp>
    </p:spTree>
    <p:extLst>
      <p:ext uri="{BB962C8B-B14F-4D97-AF65-F5344CB8AC3E}">
        <p14:creationId xmlns:p14="http://schemas.microsoft.com/office/powerpoint/2010/main" val="2187205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9E1620-43F1-8AED-738F-998B07BA2795}"/>
              </a:ext>
            </a:extLst>
          </p:cNvPr>
          <p:cNvSpPr>
            <a:spLocks noGrp="1"/>
          </p:cNvSpPr>
          <p:nvPr>
            <p:ph type="sldNum" sz="quarter" idx="12"/>
          </p:nvPr>
        </p:nvSpPr>
        <p:spPr/>
        <p:txBody>
          <a:bodyPr/>
          <a:lstStyle/>
          <a:p>
            <a:fld id="{9AA8B329-7075-4E8D-B380-2E77929090E4}" type="slidenum">
              <a:rPr lang="en-US" smtClean="0"/>
              <a:t>3</a:t>
            </a:fld>
            <a:endParaRPr lang="en-US" dirty="0"/>
          </a:p>
        </p:txBody>
      </p:sp>
      <p:pic>
        <p:nvPicPr>
          <p:cNvPr id="4" name="Picture 3" descr="AI Agent Adoption Guidance for Organizations - Cloud Adoption Framework |  Microsoft Learn">
            <a:extLst>
              <a:ext uri="{FF2B5EF4-FFF2-40B4-BE49-F238E27FC236}">
                <a16:creationId xmlns:a16="http://schemas.microsoft.com/office/drawing/2014/main" id="{F7808A53-1075-1B2D-08A6-78635025E3A4}"/>
              </a:ext>
            </a:extLst>
          </p:cNvPr>
          <p:cNvPicPr>
            <a:picLocks noChangeAspect="1"/>
          </p:cNvPicPr>
          <p:nvPr/>
        </p:nvPicPr>
        <p:blipFill>
          <a:blip r:embed="rId2"/>
          <a:stretch>
            <a:fillRect/>
          </a:stretch>
        </p:blipFill>
        <p:spPr>
          <a:xfrm>
            <a:off x="1524000" y="1065451"/>
            <a:ext cx="9144000" cy="4732014"/>
          </a:xfrm>
          <a:prstGeom prst="rect">
            <a:avLst/>
          </a:prstGeom>
        </p:spPr>
      </p:pic>
      <p:sp>
        <p:nvSpPr>
          <p:cNvPr id="5" name="TextBox 4">
            <a:extLst>
              <a:ext uri="{FF2B5EF4-FFF2-40B4-BE49-F238E27FC236}">
                <a16:creationId xmlns:a16="http://schemas.microsoft.com/office/drawing/2014/main" id="{203C52B2-4617-E7AA-D7DB-B46E376E4D48}"/>
              </a:ext>
            </a:extLst>
          </p:cNvPr>
          <p:cNvSpPr txBox="1"/>
          <p:nvPr/>
        </p:nvSpPr>
        <p:spPr>
          <a:xfrm>
            <a:off x="5428317" y="0"/>
            <a:ext cx="1335366" cy="461665"/>
          </a:xfrm>
          <a:prstGeom prst="rect">
            <a:avLst/>
          </a:prstGeom>
          <a:noFill/>
        </p:spPr>
        <p:txBody>
          <a:bodyPr wrap="none" rtlCol="0">
            <a:spAutoFit/>
          </a:bodyPr>
          <a:lstStyle/>
          <a:p>
            <a:r>
              <a:rPr lang="en-US" sz="2400" b="1" dirty="0"/>
              <a:t>AI Agent</a:t>
            </a:r>
          </a:p>
        </p:txBody>
      </p:sp>
    </p:spTree>
    <p:extLst>
      <p:ext uri="{BB962C8B-B14F-4D97-AF65-F5344CB8AC3E}">
        <p14:creationId xmlns:p14="http://schemas.microsoft.com/office/powerpoint/2010/main" val="2599615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9CA1-672D-17E9-90F9-EEF7837A419B}"/>
            </a:ext>
          </a:extLst>
        </p:cNvPr>
        <p:cNvGrpSpPr/>
        <p:nvPr/>
      </p:nvGrpSpPr>
      <p:grpSpPr>
        <a:xfrm>
          <a:off x="0" y="0"/>
          <a:ext cx="0" cy="0"/>
          <a:chOff x="0" y="0"/>
          <a:chExt cx="0" cy="0"/>
        </a:xfrm>
      </p:grpSpPr>
      <p:cxnSp>
        <p:nvCxnSpPr>
          <p:cNvPr id="18" name="Straight Arrow Connector 17">
            <a:extLst>
              <a:ext uri="{FF2B5EF4-FFF2-40B4-BE49-F238E27FC236}">
                <a16:creationId xmlns:a16="http://schemas.microsoft.com/office/drawing/2014/main" id="{BC9F2286-802E-3BA0-D9F5-2A735025A289}"/>
              </a:ext>
            </a:extLst>
          </p:cNvPr>
          <p:cNvCxnSpPr>
            <a:stCxn id="10" idx="3"/>
            <a:endCxn id="13" idx="1"/>
          </p:cNvCxnSpPr>
          <p:nvPr/>
        </p:nvCxnSpPr>
        <p:spPr>
          <a:xfrm>
            <a:off x="3077674" y="4888193"/>
            <a:ext cx="5793306" cy="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77552D0A-2FDE-D36A-6297-BE00B98658AE}"/>
              </a:ext>
            </a:extLst>
          </p:cNvPr>
          <p:cNvCxnSpPr>
            <a:stCxn id="5" idx="3"/>
            <a:endCxn id="9" idx="1"/>
          </p:cNvCxnSpPr>
          <p:nvPr/>
        </p:nvCxnSpPr>
        <p:spPr>
          <a:xfrm>
            <a:off x="3077672" y="3420611"/>
            <a:ext cx="5549960" cy="8388"/>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DCD27373-F59D-6F78-4E48-970A524F8BCD}"/>
              </a:ext>
            </a:extLst>
          </p:cNvPr>
          <p:cNvSpPr txBox="1"/>
          <p:nvPr/>
        </p:nvSpPr>
        <p:spPr>
          <a:xfrm>
            <a:off x="5497537" y="2267631"/>
            <a:ext cx="2445349" cy="400110"/>
          </a:xfrm>
          <a:prstGeom prst="rect">
            <a:avLst/>
          </a:prstGeom>
          <a:noFill/>
        </p:spPr>
        <p:txBody>
          <a:bodyPr wrap="none" rtlCol="0">
            <a:spAutoFit/>
          </a:bodyPr>
          <a:lstStyle/>
          <a:p>
            <a:r>
              <a:rPr lang="en-US" sz="2000" b="1" dirty="0"/>
              <a:t>How AutoML Works</a:t>
            </a:r>
          </a:p>
        </p:txBody>
      </p:sp>
      <p:sp>
        <p:nvSpPr>
          <p:cNvPr id="3" name="TextBox 2">
            <a:extLst>
              <a:ext uri="{FF2B5EF4-FFF2-40B4-BE49-F238E27FC236}">
                <a16:creationId xmlns:a16="http://schemas.microsoft.com/office/drawing/2014/main" id="{0ABBB126-0971-C46E-F4F0-660D98186344}"/>
              </a:ext>
            </a:extLst>
          </p:cNvPr>
          <p:cNvSpPr txBox="1"/>
          <p:nvPr/>
        </p:nvSpPr>
        <p:spPr>
          <a:xfrm>
            <a:off x="496671" y="614065"/>
            <a:ext cx="11270898" cy="923330"/>
          </a:xfrm>
          <a:prstGeom prst="rect">
            <a:avLst/>
          </a:prstGeom>
          <a:noFill/>
        </p:spPr>
        <p:txBody>
          <a:bodyPr wrap="square" rtlCol="0">
            <a:spAutoFit/>
          </a:bodyPr>
          <a:lstStyle/>
          <a:p>
            <a:pPr algn="just"/>
            <a:r>
              <a:rPr lang="en-US" b="1" dirty="0"/>
              <a:t>AutoML (Automated Machine Learning)</a:t>
            </a:r>
          </a:p>
          <a:p>
            <a:pPr algn="just"/>
            <a:r>
              <a:rPr lang="en-US" dirty="0"/>
              <a:t>AutoML automates data preprocessing, feature engineering, model selection, hyperparameter tuning, model evaluation, and deployment assistance.</a:t>
            </a:r>
          </a:p>
        </p:txBody>
      </p:sp>
      <p:sp>
        <p:nvSpPr>
          <p:cNvPr id="4" name="Slide Number Placeholder 3">
            <a:extLst>
              <a:ext uri="{FF2B5EF4-FFF2-40B4-BE49-F238E27FC236}">
                <a16:creationId xmlns:a16="http://schemas.microsoft.com/office/drawing/2014/main" id="{1EC42ECB-097D-D88C-AD7D-730776AB9D0D}"/>
              </a:ext>
            </a:extLst>
          </p:cNvPr>
          <p:cNvSpPr>
            <a:spLocks noGrp="1"/>
          </p:cNvSpPr>
          <p:nvPr>
            <p:ph type="sldNum" sz="quarter" idx="12"/>
          </p:nvPr>
        </p:nvSpPr>
        <p:spPr/>
        <p:txBody>
          <a:bodyPr/>
          <a:lstStyle/>
          <a:p>
            <a:fld id="{9AA8B329-7075-4E8D-B380-2E77929090E4}" type="slidenum">
              <a:rPr lang="en-US" smtClean="0"/>
              <a:t>4</a:t>
            </a:fld>
            <a:endParaRPr lang="en-US" dirty="0"/>
          </a:p>
        </p:txBody>
      </p:sp>
      <p:sp>
        <p:nvSpPr>
          <p:cNvPr id="6" name="TextBox 5">
            <a:extLst>
              <a:ext uri="{FF2B5EF4-FFF2-40B4-BE49-F238E27FC236}">
                <a16:creationId xmlns:a16="http://schemas.microsoft.com/office/drawing/2014/main" id="{D97B4795-9DBF-B30B-3C63-D6C10B400403}"/>
              </a:ext>
            </a:extLst>
          </p:cNvPr>
          <p:cNvSpPr txBox="1"/>
          <p:nvPr/>
        </p:nvSpPr>
        <p:spPr>
          <a:xfrm>
            <a:off x="6320936" y="152400"/>
            <a:ext cx="1249188" cy="461665"/>
          </a:xfrm>
          <a:prstGeom prst="rect">
            <a:avLst/>
          </a:prstGeom>
          <a:noFill/>
        </p:spPr>
        <p:txBody>
          <a:bodyPr wrap="none" rtlCol="0">
            <a:spAutoFit/>
          </a:bodyPr>
          <a:lstStyle/>
          <a:p>
            <a:r>
              <a:rPr lang="en-US" sz="2400" b="1" dirty="0"/>
              <a:t>AutoML</a:t>
            </a:r>
          </a:p>
        </p:txBody>
      </p:sp>
      <p:sp>
        <p:nvSpPr>
          <p:cNvPr id="5" name="Rectangle: Rounded Corners 4">
            <a:extLst>
              <a:ext uri="{FF2B5EF4-FFF2-40B4-BE49-F238E27FC236}">
                <a16:creationId xmlns:a16="http://schemas.microsoft.com/office/drawing/2014/main" id="{66C601FA-3557-3D08-8931-E618240B8B12}"/>
              </a:ext>
            </a:extLst>
          </p:cNvPr>
          <p:cNvSpPr/>
          <p:nvPr/>
        </p:nvSpPr>
        <p:spPr>
          <a:xfrm>
            <a:off x="1556967" y="2973459"/>
            <a:ext cx="1520705"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Raw</a:t>
            </a:r>
          </a:p>
          <a:p>
            <a:pPr algn="ctr"/>
            <a:r>
              <a:rPr lang="en-US" dirty="0">
                <a:solidFill>
                  <a:schemeClr val="tx1"/>
                </a:solidFill>
              </a:rPr>
              <a:t>Data</a:t>
            </a:r>
          </a:p>
        </p:txBody>
      </p:sp>
      <p:sp>
        <p:nvSpPr>
          <p:cNvPr id="7" name="Rectangle: Rounded Corners 6">
            <a:extLst>
              <a:ext uri="{FF2B5EF4-FFF2-40B4-BE49-F238E27FC236}">
                <a16:creationId xmlns:a16="http://schemas.microsoft.com/office/drawing/2014/main" id="{C9787953-9E62-5FAF-0530-50A16BEB844B}"/>
              </a:ext>
            </a:extLst>
          </p:cNvPr>
          <p:cNvSpPr/>
          <p:nvPr/>
        </p:nvSpPr>
        <p:spPr>
          <a:xfrm>
            <a:off x="3689064" y="2981848"/>
            <a:ext cx="1520706"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a:t>
            </a:r>
          </a:p>
          <a:p>
            <a:pPr algn="ctr"/>
            <a:r>
              <a:rPr lang="en-US" dirty="0">
                <a:solidFill>
                  <a:schemeClr val="tx1"/>
                </a:solidFill>
              </a:rPr>
              <a:t>Processing</a:t>
            </a:r>
          </a:p>
        </p:txBody>
      </p:sp>
      <p:sp>
        <p:nvSpPr>
          <p:cNvPr id="8" name="Rectangle: Rounded Corners 7">
            <a:extLst>
              <a:ext uri="{FF2B5EF4-FFF2-40B4-BE49-F238E27FC236}">
                <a16:creationId xmlns:a16="http://schemas.microsoft.com/office/drawing/2014/main" id="{8A0E31EA-5FF1-75F6-A8C7-71AB228D5A0A}"/>
              </a:ext>
            </a:extLst>
          </p:cNvPr>
          <p:cNvSpPr/>
          <p:nvPr/>
        </p:nvSpPr>
        <p:spPr>
          <a:xfrm>
            <a:off x="5888772" y="2981848"/>
            <a:ext cx="2007402"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Try Many ML</a:t>
            </a:r>
          </a:p>
          <a:p>
            <a:pPr algn="ctr"/>
            <a:r>
              <a:rPr lang="en-US" dirty="0">
                <a:solidFill>
                  <a:schemeClr val="tx1"/>
                </a:solidFill>
              </a:rPr>
              <a:t>Algorithms Automatically</a:t>
            </a:r>
          </a:p>
        </p:txBody>
      </p:sp>
      <p:sp>
        <p:nvSpPr>
          <p:cNvPr id="9" name="Rectangle: Rounded Corners 8">
            <a:extLst>
              <a:ext uri="{FF2B5EF4-FFF2-40B4-BE49-F238E27FC236}">
                <a16:creationId xmlns:a16="http://schemas.microsoft.com/office/drawing/2014/main" id="{0D9094AF-B16A-BB5F-D98E-E6AABFD8FAFD}"/>
              </a:ext>
            </a:extLst>
          </p:cNvPr>
          <p:cNvSpPr/>
          <p:nvPr/>
        </p:nvSpPr>
        <p:spPr>
          <a:xfrm>
            <a:off x="8627632" y="2974500"/>
            <a:ext cx="2007402" cy="908998"/>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Hyperparameter Tuning</a:t>
            </a:r>
          </a:p>
        </p:txBody>
      </p:sp>
      <p:sp>
        <p:nvSpPr>
          <p:cNvPr id="10" name="Rectangle: Rounded Corners 9">
            <a:extLst>
              <a:ext uri="{FF2B5EF4-FFF2-40B4-BE49-F238E27FC236}">
                <a16:creationId xmlns:a16="http://schemas.microsoft.com/office/drawing/2014/main" id="{0ACDCB3A-3FAD-8EA8-77D1-30DD5DE8084B}"/>
              </a:ext>
            </a:extLst>
          </p:cNvPr>
          <p:cNvSpPr/>
          <p:nvPr/>
        </p:nvSpPr>
        <p:spPr>
          <a:xfrm>
            <a:off x="1556968" y="4441041"/>
            <a:ext cx="1520706"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Cross</a:t>
            </a:r>
          </a:p>
          <a:p>
            <a:pPr algn="ctr"/>
            <a:r>
              <a:rPr lang="en-US" dirty="0">
                <a:solidFill>
                  <a:schemeClr val="tx1"/>
                </a:solidFill>
              </a:rPr>
              <a:t>Validation</a:t>
            </a:r>
          </a:p>
        </p:txBody>
      </p:sp>
      <p:sp>
        <p:nvSpPr>
          <p:cNvPr id="11" name="Rectangle: Rounded Corners 10">
            <a:extLst>
              <a:ext uri="{FF2B5EF4-FFF2-40B4-BE49-F238E27FC236}">
                <a16:creationId xmlns:a16="http://schemas.microsoft.com/office/drawing/2014/main" id="{3F546593-1C59-B485-D47B-E74D731F29DB}"/>
              </a:ext>
            </a:extLst>
          </p:cNvPr>
          <p:cNvSpPr/>
          <p:nvPr/>
        </p:nvSpPr>
        <p:spPr>
          <a:xfrm>
            <a:off x="3689064" y="4441041"/>
            <a:ext cx="1520706"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Compare</a:t>
            </a:r>
          </a:p>
          <a:p>
            <a:pPr algn="ctr"/>
            <a:r>
              <a:rPr lang="en-US" dirty="0">
                <a:solidFill>
                  <a:schemeClr val="tx1"/>
                </a:solidFill>
              </a:rPr>
              <a:t>All Models</a:t>
            </a:r>
          </a:p>
        </p:txBody>
      </p:sp>
      <p:sp>
        <p:nvSpPr>
          <p:cNvPr id="12" name="Rectangle: Rounded Corners 11">
            <a:extLst>
              <a:ext uri="{FF2B5EF4-FFF2-40B4-BE49-F238E27FC236}">
                <a16:creationId xmlns:a16="http://schemas.microsoft.com/office/drawing/2014/main" id="{5CDA2848-294B-A7BD-41FF-2A628DD2ED9D}"/>
              </a:ext>
            </a:extLst>
          </p:cNvPr>
          <p:cNvSpPr/>
          <p:nvPr/>
        </p:nvSpPr>
        <p:spPr>
          <a:xfrm>
            <a:off x="6132120" y="4441041"/>
            <a:ext cx="1520706"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Best Model Selected</a:t>
            </a:r>
          </a:p>
        </p:txBody>
      </p:sp>
      <p:sp>
        <p:nvSpPr>
          <p:cNvPr id="13" name="Rectangle: Rounded Corners 12">
            <a:extLst>
              <a:ext uri="{FF2B5EF4-FFF2-40B4-BE49-F238E27FC236}">
                <a16:creationId xmlns:a16="http://schemas.microsoft.com/office/drawing/2014/main" id="{FC5329C1-B5F6-7F10-C4A8-987145A3C84D}"/>
              </a:ext>
            </a:extLst>
          </p:cNvPr>
          <p:cNvSpPr/>
          <p:nvPr/>
        </p:nvSpPr>
        <p:spPr>
          <a:xfrm>
            <a:off x="8870980" y="4441041"/>
            <a:ext cx="1520706"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Make Prediction</a:t>
            </a:r>
          </a:p>
        </p:txBody>
      </p:sp>
      <p:cxnSp>
        <p:nvCxnSpPr>
          <p:cNvPr id="20" name="Connector: Elbow 19">
            <a:extLst>
              <a:ext uri="{FF2B5EF4-FFF2-40B4-BE49-F238E27FC236}">
                <a16:creationId xmlns:a16="http://schemas.microsoft.com/office/drawing/2014/main" id="{B338F354-7703-4D49-FB77-152675F91037}"/>
              </a:ext>
            </a:extLst>
          </p:cNvPr>
          <p:cNvCxnSpPr>
            <a:stCxn id="9" idx="3"/>
            <a:endCxn id="10" idx="1"/>
          </p:cNvCxnSpPr>
          <p:nvPr/>
        </p:nvCxnSpPr>
        <p:spPr>
          <a:xfrm flipH="1">
            <a:off x="1556968" y="3428999"/>
            <a:ext cx="9078066" cy="1459194"/>
          </a:xfrm>
          <a:prstGeom prst="bentConnector5">
            <a:avLst>
              <a:gd name="adj1" fmla="val -2518"/>
              <a:gd name="adj2" fmla="val 50252"/>
              <a:gd name="adj3" fmla="val 102518"/>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4705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5F900-592A-CC6B-0842-C68939DCF2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E413F5-A725-E73E-B241-29C4926FA90F}"/>
              </a:ext>
            </a:extLst>
          </p:cNvPr>
          <p:cNvSpPr txBox="1"/>
          <p:nvPr/>
        </p:nvSpPr>
        <p:spPr>
          <a:xfrm>
            <a:off x="4998969" y="0"/>
            <a:ext cx="2194062" cy="461665"/>
          </a:xfrm>
          <a:prstGeom prst="rect">
            <a:avLst/>
          </a:prstGeom>
          <a:noFill/>
        </p:spPr>
        <p:txBody>
          <a:bodyPr wrap="none" rtlCol="0">
            <a:spAutoFit/>
          </a:bodyPr>
          <a:lstStyle/>
          <a:p>
            <a:r>
              <a:rPr lang="en-US" sz="2400" b="1" dirty="0"/>
              <a:t>Expert System</a:t>
            </a:r>
          </a:p>
        </p:txBody>
      </p:sp>
      <p:sp>
        <p:nvSpPr>
          <p:cNvPr id="4" name="Slide Number Placeholder 3">
            <a:extLst>
              <a:ext uri="{FF2B5EF4-FFF2-40B4-BE49-F238E27FC236}">
                <a16:creationId xmlns:a16="http://schemas.microsoft.com/office/drawing/2014/main" id="{37A0106B-CDDD-763B-3A5E-D3CDDC3CAAB0}"/>
              </a:ext>
            </a:extLst>
          </p:cNvPr>
          <p:cNvSpPr>
            <a:spLocks noGrp="1"/>
          </p:cNvSpPr>
          <p:nvPr>
            <p:ph type="sldNum" sz="quarter" idx="12"/>
          </p:nvPr>
        </p:nvSpPr>
        <p:spPr/>
        <p:txBody>
          <a:bodyPr/>
          <a:lstStyle/>
          <a:p>
            <a:fld id="{9AA8B329-7075-4E8D-B380-2E77929090E4}" type="slidenum">
              <a:rPr lang="en-US" smtClean="0"/>
              <a:t>5</a:t>
            </a:fld>
            <a:endParaRPr lang="en-US" dirty="0"/>
          </a:p>
        </p:txBody>
      </p:sp>
      <p:sp>
        <p:nvSpPr>
          <p:cNvPr id="6" name="TextBox 5">
            <a:extLst>
              <a:ext uri="{FF2B5EF4-FFF2-40B4-BE49-F238E27FC236}">
                <a16:creationId xmlns:a16="http://schemas.microsoft.com/office/drawing/2014/main" id="{9F73F7F7-595D-72C1-8E32-904C7D212CA0}"/>
              </a:ext>
            </a:extLst>
          </p:cNvPr>
          <p:cNvSpPr txBox="1"/>
          <p:nvPr/>
        </p:nvSpPr>
        <p:spPr>
          <a:xfrm>
            <a:off x="496671" y="614065"/>
            <a:ext cx="11270898" cy="1200329"/>
          </a:xfrm>
          <a:prstGeom prst="rect">
            <a:avLst/>
          </a:prstGeom>
          <a:noFill/>
        </p:spPr>
        <p:txBody>
          <a:bodyPr wrap="square" rtlCol="0">
            <a:spAutoFit/>
          </a:bodyPr>
          <a:lstStyle/>
          <a:p>
            <a:r>
              <a:rPr lang="en-US" dirty="0"/>
              <a:t>An Expert System is a type of Artificial Intelligence (AI) that imitates the decision-making process of a human expert in a specific field.</a:t>
            </a:r>
          </a:p>
          <a:p>
            <a:endParaRPr lang="en-US" dirty="0"/>
          </a:p>
          <a:p>
            <a:r>
              <a:rPr lang="en-US" dirty="0"/>
              <a:t>Classical expert systems rely on expert-defined IF–THEN rules rather than learning patterns from training data.</a:t>
            </a:r>
          </a:p>
        </p:txBody>
      </p:sp>
      <p:cxnSp>
        <p:nvCxnSpPr>
          <p:cNvPr id="7" name="Straight Arrow Connector 6">
            <a:extLst>
              <a:ext uri="{FF2B5EF4-FFF2-40B4-BE49-F238E27FC236}">
                <a16:creationId xmlns:a16="http://schemas.microsoft.com/office/drawing/2014/main" id="{A39DC90E-1D15-186A-EAB1-BB8C04F568D0}"/>
              </a:ext>
            </a:extLst>
          </p:cNvPr>
          <p:cNvCxnSpPr>
            <a:cxnSpLocks/>
            <a:stCxn id="14" idx="3"/>
            <a:endCxn id="17" idx="1"/>
          </p:cNvCxnSpPr>
          <p:nvPr/>
        </p:nvCxnSpPr>
        <p:spPr>
          <a:xfrm>
            <a:off x="7862800" y="4888192"/>
            <a:ext cx="764832" cy="1"/>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0FA8DDE2-5716-103F-6CB2-9471AFFA9C80}"/>
              </a:ext>
            </a:extLst>
          </p:cNvPr>
          <p:cNvCxnSpPr>
            <a:stCxn id="10" idx="3"/>
            <a:endCxn id="13" idx="1"/>
          </p:cNvCxnSpPr>
          <p:nvPr/>
        </p:nvCxnSpPr>
        <p:spPr>
          <a:xfrm>
            <a:off x="3077672" y="3420611"/>
            <a:ext cx="5549960" cy="8388"/>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4DA4419D-2E54-1C56-2177-B8C7D58BE966}"/>
              </a:ext>
            </a:extLst>
          </p:cNvPr>
          <p:cNvSpPr/>
          <p:nvPr/>
        </p:nvSpPr>
        <p:spPr>
          <a:xfrm>
            <a:off x="1556967" y="2973459"/>
            <a:ext cx="1520705"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 </a:t>
            </a:r>
          </a:p>
        </p:txBody>
      </p:sp>
      <p:sp>
        <p:nvSpPr>
          <p:cNvPr id="11" name="Rectangle: Rounded Corners 10">
            <a:extLst>
              <a:ext uri="{FF2B5EF4-FFF2-40B4-BE49-F238E27FC236}">
                <a16:creationId xmlns:a16="http://schemas.microsoft.com/office/drawing/2014/main" id="{76635FBC-1010-6851-EF26-14908EB074FA}"/>
              </a:ext>
            </a:extLst>
          </p:cNvPr>
          <p:cNvSpPr/>
          <p:nvPr/>
        </p:nvSpPr>
        <p:spPr>
          <a:xfrm>
            <a:off x="3689064" y="2981848"/>
            <a:ext cx="1520706"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Answer Questions</a:t>
            </a:r>
          </a:p>
        </p:txBody>
      </p:sp>
      <p:sp>
        <p:nvSpPr>
          <p:cNvPr id="12" name="Rectangle: Rounded Corners 11">
            <a:extLst>
              <a:ext uri="{FF2B5EF4-FFF2-40B4-BE49-F238E27FC236}">
                <a16:creationId xmlns:a16="http://schemas.microsoft.com/office/drawing/2014/main" id="{FB9EFC67-8214-E79D-5EB9-639D39F225D3}"/>
              </a:ext>
            </a:extLst>
          </p:cNvPr>
          <p:cNvSpPr/>
          <p:nvPr/>
        </p:nvSpPr>
        <p:spPr>
          <a:xfrm>
            <a:off x="5821162" y="2981848"/>
            <a:ext cx="2075012"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Inference Engines</a:t>
            </a:r>
          </a:p>
          <a:p>
            <a:pPr algn="ctr"/>
            <a:r>
              <a:rPr lang="en-US" dirty="0">
                <a:solidFill>
                  <a:schemeClr val="tx1"/>
                </a:solidFill>
              </a:rPr>
              <a:t>(Decision Making)</a:t>
            </a:r>
          </a:p>
        </p:txBody>
      </p:sp>
      <p:sp>
        <p:nvSpPr>
          <p:cNvPr id="13" name="Rectangle: Rounded Corners 12">
            <a:extLst>
              <a:ext uri="{FF2B5EF4-FFF2-40B4-BE49-F238E27FC236}">
                <a16:creationId xmlns:a16="http://schemas.microsoft.com/office/drawing/2014/main" id="{1A9549EE-1354-E93D-E3CF-1CBDD6EE8950}"/>
              </a:ext>
            </a:extLst>
          </p:cNvPr>
          <p:cNvSpPr/>
          <p:nvPr/>
        </p:nvSpPr>
        <p:spPr>
          <a:xfrm>
            <a:off x="8627632" y="2974500"/>
            <a:ext cx="2007402" cy="908998"/>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 IF-THEN Rules</a:t>
            </a:r>
          </a:p>
        </p:txBody>
      </p:sp>
      <p:sp>
        <p:nvSpPr>
          <p:cNvPr id="14" name="Rectangle: Rounded Corners 13">
            <a:extLst>
              <a:ext uri="{FF2B5EF4-FFF2-40B4-BE49-F238E27FC236}">
                <a16:creationId xmlns:a16="http://schemas.microsoft.com/office/drawing/2014/main" id="{3C4B1657-0D8D-C5A2-7FA4-48EF339A0825}"/>
              </a:ext>
            </a:extLst>
          </p:cNvPr>
          <p:cNvSpPr/>
          <p:nvPr/>
        </p:nvSpPr>
        <p:spPr>
          <a:xfrm>
            <a:off x="5821162" y="4441040"/>
            <a:ext cx="2041638"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Knowledge Base</a:t>
            </a:r>
          </a:p>
          <a:p>
            <a:pPr algn="ctr"/>
            <a:r>
              <a:rPr lang="en-US" dirty="0">
                <a:solidFill>
                  <a:schemeClr val="tx1"/>
                </a:solidFill>
              </a:rPr>
              <a:t>(Facts + Expert Rules</a:t>
            </a:r>
          </a:p>
        </p:txBody>
      </p:sp>
      <p:sp>
        <p:nvSpPr>
          <p:cNvPr id="17" name="Rectangle: Rounded Corners 16">
            <a:extLst>
              <a:ext uri="{FF2B5EF4-FFF2-40B4-BE49-F238E27FC236}">
                <a16:creationId xmlns:a16="http://schemas.microsoft.com/office/drawing/2014/main" id="{D8F9A41E-6332-04F0-DA8E-22CDD35F8A1A}"/>
              </a:ext>
            </a:extLst>
          </p:cNvPr>
          <p:cNvSpPr/>
          <p:nvPr/>
        </p:nvSpPr>
        <p:spPr>
          <a:xfrm>
            <a:off x="8627632" y="4441041"/>
            <a:ext cx="2007402" cy="894303"/>
          </a:xfrm>
          <a:prstGeom prst="roundRect">
            <a:avLst/>
          </a:prstGeom>
          <a:solidFill>
            <a:schemeClr val="accent4">
              <a:lumMod val="20000"/>
              <a:lumOff val="80000"/>
            </a:schemeClr>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Recommendation and Decision</a:t>
            </a:r>
          </a:p>
        </p:txBody>
      </p:sp>
      <p:cxnSp>
        <p:nvCxnSpPr>
          <p:cNvPr id="18" name="Connector: Elbow 17">
            <a:extLst>
              <a:ext uri="{FF2B5EF4-FFF2-40B4-BE49-F238E27FC236}">
                <a16:creationId xmlns:a16="http://schemas.microsoft.com/office/drawing/2014/main" id="{3FB96054-E34F-9F76-C5C6-8490708CF6F1}"/>
              </a:ext>
            </a:extLst>
          </p:cNvPr>
          <p:cNvCxnSpPr>
            <a:cxnSpLocks/>
            <a:stCxn id="13" idx="3"/>
            <a:endCxn id="14" idx="1"/>
          </p:cNvCxnSpPr>
          <p:nvPr/>
        </p:nvCxnSpPr>
        <p:spPr>
          <a:xfrm flipH="1">
            <a:off x="5821162" y="3428999"/>
            <a:ext cx="4813872" cy="1459193"/>
          </a:xfrm>
          <a:prstGeom prst="bentConnector5">
            <a:avLst>
              <a:gd name="adj1" fmla="val -4749"/>
              <a:gd name="adj2" fmla="val 50252"/>
              <a:gd name="adj3" fmla="val 104749"/>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B3C0B042-B8C7-8680-92E0-93A10C4F0BA4}"/>
              </a:ext>
            </a:extLst>
          </p:cNvPr>
          <p:cNvSpPr txBox="1"/>
          <p:nvPr/>
        </p:nvSpPr>
        <p:spPr>
          <a:xfrm>
            <a:off x="4134465" y="2333745"/>
            <a:ext cx="3923071" cy="369332"/>
          </a:xfrm>
          <a:prstGeom prst="rect">
            <a:avLst/>
          </a:prstGeom>
          <a:noFill/>
        </p:spPr>
        <p:txBody>
          <a:bodyPr wrap="square">
            <a:spAutoFit/>
          </a:bodyPr>
          <a:lstStyle/>
          <a:p>
            <a:r>
              <a:rPr lang="en-US" b="1" dirty="0"/>
              <a:t>How Expert System Works</a:t>
            </a:r>
          </a:p>
        </p:txBody>
      </p:sp>
      <p:sp>
        <p:nvSpPr>
          <p:cNvPr id="28" name="TextBox 27">
            <a:extLst>
              <a:ext uri="{FF2B5EF4-FFF2-40B4-BE49-F238E27FC236}">
                <a16:creationId xmlns:a16="http://schemas.microsoft.com/office/drawing/2014/main" id="{1674F647-25A3-AD35-F26E-5DB54D6A646D}"/>
              </a:ext>
            </a:extLst>
          </p:cNvPr>
          <p:cNvSpPr txBox="1"/>
          <p:nvPr/>
        </p:nvSpPr>
        <p:spPr>
          <a:xfrm>
            <a:off x="641063" y="5476430"/>
            <a:ext cx="11126505" cy="1138773"/>
          </a:xfrm>
          <a:prstGeom prst="rect">
            <a:avLst/>
          </a:prstGeom>
          <a:noFill/>
        </p:spPr>
        <p:txBody>
          <a:bodyPr wrap="square">
            <a:spAutoFit/>
          </a:bodyPr>
          <a:lstStyle/>
          <a:p>
            <a:r>
              <a:rPr lang="en-US" b="1" dirty="0"/>
              <a:t>Example: Loan Approval Rules:</a:t>
            </a:r>
          </a:p>
          <a:p>
            <a:r>
              <a:rPr lang="en-US" sz="1600" dirty="0"/>
              <a:t>IF income &gt; $50,000 AND credit score &gt; 700 THEN </a:t>
            </a:r>
          </a:p>
          <a:p>
            <a:r>
              <a:rPr lang="en-US" sz="1600" dirty="0"/>
              <a:t>    approve loan</a:t>
            </a:r>
          </a:p>
          <a:p>
            <a:endParaRPr lang="en-US" dirty="0"/>
          </a:p>
        </p:txBody>
      </p:sp>
    </p:spTree>
    <p:extLst>
      <p:ext uri="{BB962C8B-B14F-4D97-AF65-F5344CB8AC3E}">
        <p14:creationId xmlns:p14="http://schemas.microsoft.com/office/powerpoint/2010/main" val="2350833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7FA78D-E26B-0FF8-564F-A371853AF23D}"/>
              </a:ext>
            </a:extLst>
          </p:cNvPr>
          <p:cNvSpPr txBox="1"/>
          <p:nvPr/>
        </p:nvSpPr>
        <p:spPr>
          <a:xfrm>
            <a:off x="5475349" y="0"/>
            <a:ext cx="1768113" cy="461665"/>
          </a:xfrm>
          <a:prstGeom prst="rect">
            <a:avLst/>
          </a:prstGeom>
          <a:noFill/>
        </p:spPr>
        <p:txBody>
          <a:bodyPr wrap="none" rtlCol="0">
            <a:spAutoFit/>
          </a:bodyPr>
          <a:lstStyle/>
          <a:p>
            <a:r>
              <a:rPr lang="en-US" sz="2400" b="1" dirty="0"/>
              <a:t>Fuzzy Logic</a:t>
            </a:r>
          </a:p>
        </p:txBody>
      </p:sp>
      <p:sp>
        <p:nvSpPr>
          <p:cNvPr id="3" name="TextBox 2">
            <a:extLst>
              <a:ext uri="{FF2B5EF4-FFF2-40B4-BE49-F238E27FC236}">
                <a16:creationId xmlns:a16="http://schemas.microsoft.com/office/drawing/2014/main" id="{FD0555F7-7596-D01B-5EEF-C343ACDEF660}"/>
              </a:ext>
            </a:extLst>
          </p:cNvPr>
          <p:cNvSpPr txBox="1"/>
          <p:nvPr/>
        </p:nvSpPr>
        <p:spPr>
          <a:xfrm>
            <a:off x="531934" y="1034716"/>
            <a:ext cx="11688008" cy="5232202"/>
          </a:xfrm>
          <a:prstGeom prst="rect">
            <a:avLst/>
          </a:prstGeom>
          <a:noFill/>
        </p:spPr>
        <p:txBody>
          <a:bodyPr wrap="none" rtlCol="0">
            <a:spAutoFit/>
          </a:bodyPr>
          <a:lstStyle/>
          <a:p>
            <a:pPr algn="just"/>
            <a:r>
              <a:rPr lang="en-US" sz="1400" dirty="0"/>
              <a:t>Traditional digital logic uses only two values (0 or 1), while fuzzy logic allows degrees of truth between 0 and 1.</a:t>
            </a:r>
          </a:p>
          <a:p>
            <a:pPr algn="just"/>
            <a:endParaRPr lang="en-US" sz="1400" dirty="0"/>
          </a:p>
          <a:p>
            <a:pPr algn="just"/>
            <a:r>
              <a:rPr lang="en-US" sz="1400" dirty="0"/>
              <a:t>We must convert temperature from real value to fuzzy term like cold, warm, and hot  and low, normal, and high for humidity  and this process is called </a:t>
            </a:r>
          </a:p>
          <a:p>
            <a:pPr algn="just"/>
            <a:r>
              <a:rPr lang="en-US" sz="1400" dirty="0"/>
              <a:t>Fuzzification.</a:t>
            </a:r>
          </a:p>
          <a:p>
            <a:endParaRPr lang="en-US" sz="1400" dirty="0"/>
          </a:p>
          <a:p>
            <a:r>
              <a:rPr lang="en-US" sz="1400" dirty="0"/>
              <a:t>The second phase is Rule Evaluation, where IF–THEN rules are applied.:</a:t>
            </a:r>
          </a:p>
          <a:p>
            <a:r>
              <a:rPr lang="en-US" sz="1400" dirty="0"/>
              <a:t>If Temperature is Warm Then  </a:t>
            </a:r>
          </a:p>
          <a:p>
            <a:r>
              <a:rPr lang="en-US" sz="1400" dirty="0"/>
              <a:t>    Fan = Medium</a:t>
            </a:r>
          </a:p>
          <a:p>
            <a:r>
              <a:rPr lang="en-US" sz="1400" dirty="0"/>
              <a:t>End If</a:t>
            </a:r>
          </a:p>
          <a:p>
            <a:pPr algn="just"/>
            <a:endParaRPr lang="en-US" sz="1400" dirty="0"/>
          </a:p>
          <a:p>
            <a:r>
              <a:rPr lang="en-US" sz="1400" dirty="0"/>
              <a:t>If Temperature is Cold Then </a:t>
            </a:r>
          </a:p>
          <a:p>
            <a:r>
              <a:rPr lang="en-US" sz="1400" dirty="0"/>
              <a:t>    Fan = Off</a:t>
            </a:r>
          </a:p>
          <a:p>
            <a:r>
              <a:rPr lang="en-US" sz="1400" dirty="0"/>
              <a:t>End If</a:t>
            </a:r>
          </a:p>
          <a:p>
            <a:pPr algn="just"/>
            <a:endParaRPr lang="en-US" sz="1400" dirty="0"/>
          </a:p>
          <a:p>
            <a:pPr algn="just"/>
            <a:r>
              <a:rPr lang="en-US" sz="1400" dirty="0"/>
              <a:t>The system might combine multiple rules if they apply.</a:t>
            </a:r>
          </a:p>
          <a:p>
            <a:pPr algn="just"/>
            <a:r>
              <a:rPr lang="en-US" sz="1400" dirty="0"/>
              <a:t>The last process of Fuzzy Logic is Defuzzification that converts the fuzzy result into a crisp numerical output. .</a:t>
            </a:r>
          </a:p>
          <a:p>
            <a:pPr algn="just"/>
            <a:r>
              <a:rPr lang="en-US" sz="1400" dirty="0"/>
              <a:t>Example</a:t>
            </a:r>
          </a:p>
          <a:p>
            <a:pPr algn="just"/>
            <a:r>
              <a:rPr lang="en-US" sz="1400" dirty="0"/>
              <a:t>Fan Speed </a:t>
            </a:r>
          </a:p>
          <a:p>
            <a:pPr algn="just"/>
            <a:r>
              <a:rPr lang="en-US" sz="1400" dirty="0"/>
              <a:t>0 = Off</a:t>
            </a:r>
          </a:p>
          <a:p>
            <a:pPr algn="just"/>
            <a:r>
              <a:rPr lang="en-US" sz="1400" dirty="0"/>
              <a:t>25 = Low</a:t>
            </a:r>
          </a:p>
          <a:p>
            <a:pPr algn="just"/>
            <a:r>
              <a:rPr lang="en-US" sz="1400" dirty="0"/>
              <a:t>50 = Medium</a:t>
            </a:r>
          </a:p>
          <a:p>
            <a:pPr algn="just"/>
            <a:r>
              <a:rPr lang="en-US" sz="1400" dirty="0"/>
              <a:t>75 = High</a:t>
            </a:r>
          </a:p>
          <a:p>
            <a:pPr algn="just"/>
            <a:r>
              <a:rPr lang="en-US" sz="1400" dirty="0"/>
              <a:t>100 = Maximum</a:t>
            </a:r>
          </a:p>
          <a:p>
            <a:pPr algn="just"/>
            <a:endParaRPr lang="en-US" sz="1200" dirty="0"/>
          </a:p>
        </p:txBody>
      </p:sp>
      <p:sp>
        <p:nvSpPr>
          <p:cNvPr id="4" name="Slide Number Placeholder 3">
            <a:extLst>
              <a:ext uri="{FF2B5EF4-FFF2-40B4-BE49-F238E27FC236}">
                <a16:creationId xmlns:a16="http://schemas.microsoft.com/office/drawing/2014/main" id="{1A6C0068-184A-B06C-2505-E299C72D7377}"/>
              </a:ext>
            </a:extLst>
          </p:cNvPr>
          <p:cNvSpPr>
            <a:spLocks noGrp="1"/>
          </p:cNvSpPr>
          <p:nvPr>
            <p:ph type="sldNum" sz="quarter" idx="12"/>
          </p:nvPr>
        </p:nvSpPr>
        <p:spPr/>
        <p:txBody>
          <a:bodyPr/>
          <a:lstStyle/>
          <a:p>
            <a:fld id="{9AA8B329-7075-4E8D-B380-2E77929090E4}" type="slidenum">
              <a:rPr lang="en-US" smtClean="0"/>
              <a:t>6</a:t>
            </a:fld>
            <a:endParaRPr lang="en-US" dirty="0"/>
          </a:p>
        </p:txBody>
      </p:sp>
    </p:spTree>
    <p:extLst>
      <p:ext uri="{BB962C8B-B14F-4D97-AF65-F5344CB8AC3E}">
        <p14:creationId xmlns:p14="http://schemas.microsoft.com/office/powerpoint/2010/main" val="4151070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7FA78D-E26B-0FF8-564F-A371853AF23D}"/>
              </a:ext>
            </a:extLst>
          </p:cNvPr>
          <p:cNvSpPr txBox="1"/>
          <p:nvPr/>
        </p:nvSpPr>
        <p:spPr>
          <a:xfrm>
            <a:off x="5475349" y="0"/>
            <a:ext cx="1768113" cy="461665"/>
          </a:xfrm>
          <a:prstGeom prst="rect">
            <a:avLst/>
          </a:prstGeom>
          <a:noFill/>
        </p:spPr>
        <p:txBody>
          <a:bodyPr wrap="none" rtlCol="0">
            <a:spAutoFit/>
          </a:bodyPr>
          <a:lstStyle/>
          <a:p>
            <a:r>
              <a:rPr lang="en-US" sz="2400" b="1" dirty="0"/>
              <a:t>Fuzzy Logic</a:t>
            </a:r>
          </a:p>
        </p:txBody>
      </p:sp>
      <p:pic>
        <p:nvPicPr>
          <p:cNvPr id="4" name="Picture 2" descr="Fig. 5">
            <a:extLst>
              <a:ext uri="{FF2B5EF4-FFF2-40B4-BE49-F238E27FC236}">
                <a16:creationId xmlns:a16="http://schemas.microsoft.com/office/drawing/2014/main" id="{80FEAA8C-1AC7-CB51-0D3F-4C9C6D73D3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0698" y="734928"/>
            <a:ext cx="5524500" cy="20193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Developing of Fuzzy Logic Controller for Air Condition System">
            <a:extLst>
              <a:ext uri="{FF2B5EF4-FFF2-40B4-BE49-F238E27FC236}">
                <a16:creationId xmlns:a16="http://schemas.microsoft.com/office/drawing/2014/main" id="{1D16EC2E-9470-A32F-0DF2-F4C14AF1A6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0698" y="2865936"/>
            <a:ext cx="4829175" cy="31718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Fuzzy control system - Wikipedia">
            <a:extLst>
              <a:ext uri="{FF2B5EF4-FFF2-40B4-BE49-F238E27FC236}">
                <a16:creationId xmlns:a16="http://schemas.microsoft.com/office/drawing/2014/main" id="{BC5F54C5-0620-0AB8-E88B-12AF9EAB5B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1458" y="338554"/>
            <a:ext cx="3800475" cy="561022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8BEFF560-7515-4D18-8205-6A95234A6E23}"/>
              </a:ext>
            </a:extLst>
          </p:cNvPr>
          <p:cNvSpPr>
            <a:spLocks noGrp="1"/>
          </p:cNvSpPr>
          <p:nvPr>
            <p:ph type="sldNum" sz="quarter" idx="12"/>
          </p:nvPr>
        </p:nvSpPr>
        <p:spPr/>
        <p:txBody>
          <a:bodyPr/>
          <a:lstStyle/>
          <a:p>
            <a:fld id="{9AA8B329-7075-4E8D-B380-2E77929090E4}" type="slidenum">
              <a:rPr lang="en-US" smtClean="0"/>
              <a:t>7</a:t>
            </a:fld>
            <a:endParaRPr lang="en-US" dirty="0"/>
          </a:p>
        </p:txBody>
      </p:sp>
    </p:spTree>
    <p:extLst>
      <p:ext uri="{BB962C8B-B14F-4D97-AF65-F5344CB8AC3E}">
        <p14:creationId xmlns:p14="http://schemas.microsoft.com/office/powerpoint/2010/main" val="4254874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06175-6D2E-A0D1-30BC-D2A4E1D24A8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EDA8F88-2B3C-3305-DDD4-EDBDFD5C6681}"/>
              </a:ext>
            </a:extLst>
          </p:cNvPr>
          <p:cNvSpPr txBox="1"/>
          <p:nvPr/>
        </p:nvSpPr>
        <p:spPr>
          <a:xfrm>
            <a:off x="4832247" y="0"/>
            <a:ext cx="2231252" cy="461665"/>
          </a:xfrm>
          <a:prstGeom prst="rect">
            <a:avLst/>
          </a:prstGeom>
          <a:noFill/>
        </p:spPr>
        <p:txBody>
          <a:bodyPr wrap="none" rtlCol="0">
            <a:spAutoFit/>
          </a:bodyPr>
          <a:lstStyle/>
          <a:p>
            <a:r>
              <a:rPr lang="en-US" sz="2400" b="1" dirty="0"/>
              <a:t>Intelligent City</a:t>
            </a:r>
          </a:p>
        </p:txBody>
      </p:sp>
      <p:sp>
        <p:nvSpPr>
          <p:cNvPr id="3" name="TextBox 2">
            <a:extLst>
              <a:ext uri="{FF2B5EF4-FFF2-40B4-BE49-F238E27FC236}">
                <a16:creationId xmlns:a16="http://schemas.microsoft.com/office/drawing/2014/main" id="{A04ED295-8BB2-31E6-0C90-1F94BCEC2988}"/>
              </a:ext>
            </a:extLst>
          </p:cNvPr>
          <p:cNvSpPr txBox="1"/>
          <p:nvPr/>
        </p:nvSpPr>
        <p:spPr>
          <a:xfrm>
            <a:off x="244521" y="754011"/>
            <a:ext cx="11573852" cy="2923877"/>
          </a:xfrm>
          <a:prstGeom prst="rect">
            <a:avLst/>
          </a:prstGeom>
          <a:noFill/>
        </p:spPr>
        <p:txBody>
          <a:bodyPr wrap="square" rtlCol="0">
            <a:spAutoFit/>
          </a:bodyPr>
          <a:lstStyle/>
          <a:p>
            <a:pPr algn="just"/>
            <a:r>
              <a:rPr lang="en-US" sz="1600" b="1" dirty="0"/>
              <a:t>The Core Pillars of an Intelligent City</a:t>
            </a:r>
          </a:p>
          <a:p>
            <a:pPr algn="just"/>
            <a:endParaRPr lang="en-US" sz="1400" b="1" dirty="0"/>
          </a:p>
          <a:p>
            <a:pPr algn="just"/>
            <a:r>
              <a:rPr lang="en-US" sz="1400" b="1" dirty="0"/>
              <a:t>IoT &amp; Sensor Networks:</a:t>
            </a:r>
            <a:r>
              <a:rPr lang="en-US" sz="1400" dirty="0"/>
              <a:t> Billions of internet-connected sensors embedded in pavement, water pipes, and buildings constantly feed raw data back to centralized platforms.</a:t>
            </a:r>
          </a:p>
          <a:p>
            <a:pPr algn="just"/>
            <a:endParaRPr lang="en-US" sz="1400" b="1" dirty="0"/>
          </a:p>
          <a:p>
            <a:pPr algn="just"/>
            <a:r>
              <a:rPr lang="en-US" sz="1400" b="1" dirty="0"/>
              <a:t>Intelligent Transit:</a:t>
            </a:r>
            <a:r>
              <a:rPr lang="en-US" sz="1400" dirty="0"/>
              <a:t> Traffic lights that adjust dynamically based on real-time vehicle flow, smart parking apps that guide drivers to empty spots, and autonomous public transit fleets.</a:t>
            </a:r>
          </a:p>
          <a:p>
            <a:pPr algn="just"/>
            <a:endParaRPr lang="en-US" sz="1400" b="1" dirty="0"/>
          </a:p>
          <a:p>
            <a:pPr algn="just"/>
            <a:r>
              <a:rPr lang="en-US" sz="1400" b="1" dirty="0"/>
              <a:t>Predictive Infrastructure:</a:t>
            </a:r>
            <a:r>
              <a:rPr lang="en-US" sz="1400" dirty="0"/>
              <a:t> Power grids that shift energy distribution automatically based on usage patterns, and water systems that pinpoint leak locations using acoustic sensors.</a:t>
            </a:r>
          </a:p>
          <a:p>
            <a:pPr algn="just"/>
            <a:endParaRPr lang="en-US" sz="1400" b="1" dirty="0"/>
          </a:p>
          <a:p>
            <a:pPr algn="just"/>
            <a:r>
              <a:rPr lang="en-US" sz="1400" b="1" dirty="0"/>
              <a:t>Data-Driven Decision Making:</a:t>
            </a:r>
            <a:r>
              <a:rPr lang="en-US" sz="1400" dirty="0"/>
              <a:t> City planners use machine learning algorithms to run simulations on urban growth, disaster response, and public health trends</a:t>
            </a:r>
          </a:p>
        </p:txBody>
      </p:sp>
      <p:sp>
        <p:nvSpPr>
          <p:cNvPr id="5" name="TextBox 4">
            <a:extLst>
              <a:ext uri="{FF2B5EF4-FFF2-40B4-BE49-F238E27FC236}">
                <a16:creationId xmlns:a16="http://schemas.microsoft.com/office/drawing/2014/main" id="{00A0A723-00A4-C7DC-5FBB-C5A498BAA929}"/>
              </a:ext>
            </a:extLst>
          </p:cNvPr>
          <p:cNvSpPr txBox="1"/>
          <p:nvPr/>
        </p:nvSpPr>
        <p:spPr>
          <a:xfrm>
            <a:off x="244521" y="3795004"/>
            <a:ext cx="10698780" cy="307777"/>
          </a:xfrm>
          <a:prstGeom prst="rect">
            <a:avLst/>
          </a:prstGeom>
          <a:noFill/>
        </p:spPr>
        <p:txBody>
          <a:bodyPr wrap="square">
            <a:spAutoFit/>
          </a:bodyPr>
          <a:lstStyle/>
          <a:p>
            <a:pPr algn="just"/>
            <a:r>
              <a:rPr lang="en-US" sz="1400" b="1" dirty="0"/>
              <a:t>Smart Water:</a:t>
            </a:r>
            <a:r>
              <a:rPr lang="en-US" sz="1400" dirty="0"/>
              <a:t> Leak detection, Smart water meters, and Flood monitoring</a:t>
            </a:r>
          </a:p>
        </p:txBody>
      </p:sp>
      <p:sp>
        <p:nvSpPr>
          <p:cNvPr id="6" name="TextBox 5">
            <a:extLst>
              <a:ext uri="{FF2B5EF4-FFF2-40B4-BE49-F238E27FC236}">
                <a16:creationId xmlns:a16="http://schemas.microsoft.com/office/drawing/2014/main" id="{E9571E65-CD26-E6E7-D2B8-78E5CCAFDC17}"/>
              </a:ext>
            </a:extLst>
          </p:cNvPr>
          <p:cNvSpPr txBox="1"/>
          <p:nvPr/>
        </p:nvSpPr>
        <p:spPr>
          <a:xfrm>
            <a:off x="244521" y="4219897"/>
            <a:ext cx="11573851" cy="523220"/>
          </a:xfrm>
          <a:prstGeom prst="rect">
            <a:avLst/>
          </a:prstGeom>
          <a:noFill/>
        </p:spPr>
        <p:txBody>
          <a:bodyPr wrap="square">
            <a:spAutoFit/>
          </a:bodyPr>
          <a:lstStyle/>
          <a:p>
            <a:r>
              <a:rPr lang="en-US" sz="1400" b="1" dirty="0"/>
              <a:t>Environmental Monitoring: Air quality sensors, noise monitoring, weather stations, and pollution tracking.</a:t>
            </a:r>
            <a:r>
              <a:rPr lang="en-US" sz="1400" dirty="0"/>
              <a:t>,  Noise monitoring , and Weather stations  Pollution tracking</a:t>
            </a:r>
          </a:p>
        </p:txBody>
      </p:sp>
      <p:sp>
        <p:nvSpPr>
          <p:cNvPr id="8" name="TextBox 7">
            <a:extLst>
              <a:ext uri="{FF2B5EF4-FFF2-40B4-BE49-F238E27FC236}">
                <a16:creationId xmlns:a16="http://schemas.microsoft.com/office/drawing/2014/main" id="{DE9C36CA-1F85-26DE-7487-077B03AEACC3}"/>
              </a:ext>
            </a:extLst>
          </p:cNvPr>
          <p:cNvSpPr txBox="1"/>
          <p:nvPr/>
        </p:nvSpPr>
        <p:spPr>
          <a:xfrm>
            <a:off x="244521" y="4860233"/>
            <a:ext cx="11573850" cy="307777"/>
          </a:xfrm>
          <a:prstGeom prst="rect">
            <a:avLst/>
          </a:prstGeom>
          <a:noFill/>
        </p:spPr>
        <p:txBody>
          <a:bodyPr wrap="square">
            <a:spAutoFit/>
          </a:bodyPr>
          <a:lstStyle/>
          <a:p>
            <a:pPr>
              <a:buNone/>
            </a:pPr>
            <a:r>
              <a:rPr lang="en-US" sz="1400" b="1" dirty="0"/>
              <a:t>Smart Energy </a:t>
            </a:r>
            <a:r>
              <a:rPr lang="en-US" sz="1400" dirty="0"/>
              <a:t>Smart electrical grid , that dim when no one is nearby  Solar-powered infrastructure</a:t>
            </a:r>
          </a:p>
        </p:txBody>
      </p:sp>
      <p:sp>
        <p:nvSpPr>
          <p:cNvPr id="10" name="TextBox 9">
            <a:extLst>
              <a:ext uri="{FF2B5EF4-FFF2-40B4-BE49-F238E27FC236}">
                <a16:creationId xmlns:a16="http://schemas.microsoft.com/office/drawing/2014/main" id="{A8B1660C-613C-A1BF-9420-74CD5EE16BB4}"/>
              </a:ext>
            </a:extLst>
          </p:cNvPr>
          <p:cNvSpPr txBox="1"/>
          <p:nvPr/>
        </p:nvSpPr>
        <p:spPr>
          <a:xfrm>
            <a:off x="244521" y="5285126"/>
            <a:ext cx="11406703" cy="307777"/>
          </a:xfrm>
          <a:prstGeom prst="rect">
            <a:avLst/>
          </a:prstGeom>
          <a:noFill/>
        </p:spPr>
        <p:txBody>
          <a:bodyPr wrap="square">
            <a:spAutoFit/>
          </a:bodyPr>
          <a:lstStyle/>
          <a:p>
            <a:pPr>
              <a:buNone/>
            </a:pPr>
            <a:r>
              <a:rPr lang="en-US" sz="1400" b="1" dirty="0"/>
              <a:t>Smart Transportation: </a:t>
            </a:r>
            <a:r>
              <a:rPr lang="en-US" sz="1400" dirty="0"/>
              <a:t>Intelligent traffic lights , Real-time bus tracking, Smart parking, and Electric vehicle charging stations</a:t>
            </a:r>
          </a:p>
        </p:txBody>
      </p:sp>
      <p:sp>
        <p:nvSpPr>
          <p:cNvPr id="11" name="Slide Number Placeholder 10">
            <a:extLst>
              <a:ext uri="{FF2B5EF4-FFF2-40B4-BE49-F238E27FC236}">
                <a16:creationId xmlns:a16="http://schemas.microsoft.com/office/drawing/2014/main" id="{D4E49B66-1568-BC1E-AED6-21E398758967}"/>
              </a:ext>
            </a:extLst>
          </p:cNvPr>
          <p:cNvSpPr>
            <a:spLocks noGrp="1"/>
          </p:cNvSpPr>
          <p:nvPr>
            <p:ph type="sldNum" sz="quarter" idx="12"/>
          </p:nvPr>
        </p:nvSpPr>
        <p:spPr/>
        <p:txBody>
          <a:bodyPr/>
          <a:lstStyle/>
          <a:p>
            <a:fld id="{9AA8B329-7075-4E8D-B380-2E77929090E4}" type="slidenum">
              <a:rPr lang="en-US" smtClean="0"/>
              <a:t>8</a:t>
            </a:fld>
            <a:endParaRPr lang="en-US" dirty="0"/>
          </a:p>
        </p:txBody>
      </p:sp>
      <p:sp>
        <p:nvSpPr>
          <p:cNvPr id="7" name="TextBox 6">
            <a:extLst>
              <a:ext uri="{FF2B5EF4-FFF2-40B4-BE49-F238E27FC236}">
                <a16:creationId xmlns:a16="http://schemas.microsoft.com/office/drawing/2014/main" id="{DB4E0797-D2D9-A29D-D52F-41B3A394924C}"/>
              </a:ext>
            </a:extLst>
          </p:cNvPr>
          <p:cNvSpPr txBox="1"/>
          <p:nvPr/>
        </p:nvSpPr>
        <p:spPr>
          <a:xfrm>
            <a:off x="244521" y="5710019"/>
            <a:ext cx="6093994" cy="307777"/>
          </a:xfrm>
          <a:prstGeom prst="rect">
            <a:avLst/>
          </a:prstGeom>
          <a:noFill/>
        </p:spPr>
        <p:txBody>
          <a:bodyPr wrap="square">
            <a:spAutoFit/>
          </a:bodyPr>
          <a:lstStyle/>
          <a:p>
            <a:pPr algn="just"/>
            <a:r>
              <a:rPr lang="en-US" sz="1400" b="1" dirty="0"/>
              <a:t>Smart healthcare, Digital government, and Public safety</a:t>
            </a:r>
            <a:endParaRPr lang="en-US" sz="1400" dirty="0"/>
          </a:p>
        </p:txBody>
      </p:sp>
    </p:spTree>
    <p:extLst>
      <p:ext uri="{BB962C8B-B14F-4D97-AF65-F5344CB8AC3E}">
        <p14:creationId xmlns:p14="http://schemas.microsoft.com/office/powerpoint/2010/main" val="3752257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947C65-3AB4-C798-B98F-6D8117B3B847}"/>
              </a:ext>
            </a:extLst>
          </p:cNvPr>
          <p:cNvSpPr>
            <a:spLocks noGrp="1"/>
          </p:cNvSpPr>
          <p:nvPr>
            <p:ph type="sldNum" sz="quarter" idx="12"/>
          </p:nvPr>
        </p:nvSpPr>
        <p:spPr/>
        <p:txBody>
          <a:bodyPr/>
          <a:lstStyle/>
          <a:p>
            <a:fld id="{9AA8B329-7075-4E8D-B380-2E77929090E4}" type="slidenum">
              <a:rPr lang="en-US" smtClean="0"/>
              <a:t>9</a:t>
            </a:fld>
            <a:endParaRPr lang="en-US" dirty="0"/>
          </a:p>
        </p:txBody>
      </p:sp>
      <p:pic>
        <p:nvPicPr>
          <p:cNvPr id="3" name="Picture 2" descr="The Role of Real Estate in Smart Cities">
            <a:extLst>
              <a:ext uri="{FF2B5EF4-FFF2-40B4-BE49-F238E27FC236}">
                <a16:creationId xmlns:a16="http://schemas.microsoft.com/office/drawing/2014/main" id="{0611331D-2BED-8B98-B576-644C50729FC5}"/>
              </a:ext>
            </a:extLst>
          </p:cNvPr>
          <p:cNvPicPr>
            <a:picLocks noChangeAspect="1"/>
          </p:cNvPicPr>
          <p:nvPr/>
        </p:nvPicPr>
        <p:blipFill>
          <a:blip r:embed="rId2"/>
          <a:stretch>
            <a:fillRect/>
          </a:stretch>
        </p:blipFill>
        <p:spPr>
          <a:xfrm>
            <a:off x="1581050" y="857864"/>
            <a:ext cx="9029901" cy="5321976"/>
          </a:xfrm>
          <a:prstGeom prst="rect">
            <a:avLst/>
          </a:prstGeom>
        </p:spPr>
      </p:pic>
      <p:sp>
        <p:nvSpPr>
          <p:cNvPr id="4" name="TextBox 3">
            <a:extLst>
              <a:ext uri="{FF2B5EF4-FFF2-40B4-BE49-F238E27FC236}">
                <a16:creationId xmlns:a16="http://schemas.microsoft.com/office/drawing/2014/main" id="{A2513FFE-0B2C-58A3-CB3E-852A92F6340F}"/>
              </a:ext>
            </a:extLst>
          </p:cNvPr>
          <p:cNvSpPr txBox="1"/>
          <p:nvPr/>
        </p:nvSpPr>
        <p:spPr>
          <a:xfrm>
            <a:off x="4832247" y="0"/>
            <a:ext cx="2231252" cy="461665"/>
          </a:xfrm>
          <a:prstGeom prst="rect">
            <a:avLst/>
          </a:prstGeom>
          <a:noFill/>
        </p:spPr>
        <p:txBody>
          <a:bodyPr wrap="none" rtlCol="0">
            <a:spAutoFit/>
          </a:bodyPr>
          <a:lstStyle/>
          <a:p>
            <a:r>
              <a:rPr lang="en-US" sz="2400" b="1" dirty="0"/>
              <a:t>Intelligent City</a:t>
            </a:r>
          </a:p>
        </p:txBody>
      </p:sp>
    </p:spTree>
    <p:extLst>
      <p:ext uri="{BB962C8B-B14F-4D97-AF65-F5344CB8AC3E}">
        <p14:creationId xmlns:p14="http://schemas.microsoft.com/office/powerpoint/2010/main" val="3371581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C8917-C640-CE89-5E9C-129D018B67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2F89A09-34FD-AE9F-A3C5-8D6AA98CCFDD}"/>
              </a:ext>
            </a:extLst>
          </p:cNvPr>
          <p:cNvSpPr txBox="1"/>
          <p:nvPr/>
        </p:nvSpPr>
        <p:spPr>
          <a:xfrm>
            <a:off x="3404205" y="0"/>
            <a:ext cx="5383590" cy="461665"/>
          </a:xfrm>
          <a:prstGeom prst="rect">
            <a:avLst/>
          </a:prstGeom>
          <a:noFill/>
        </p:spPr>
        <p:txBody>
          <a:bodyPr wrap="none" rtlCol="0">
            <a:spAutoFit/>
          </a:bodyPr>
          <a:lstStyle/>
          <a:p>
            <a:r>
              <a:rPr lang="en-US" sz="2400" b="1" dirty="0"/>
              <a:t>Intelligent Robotic and Vision System</a:t>
            </a:r>
          </a:p>
        </p:txBody>
      </p:sp>
      <p:sp>
        <p:nvSpPr>
          <p:cNvPr id="4" name="Slide Number Placeholder 3">
            <a:extLst>
              <a:ext uri="{FF2B5EF4-FFF2-40B4-BE49-F238E27FC236}">
                <a16:creationId xmlns:a16="http://schemas.microsoft.com/office/drawing/2014/main" id="{6D4E6515-3006-F838-6160-E7BC98FB79AE}"/>
              </a:ext>
            </a:extLst>
          </p:cNvPr>
          <p:cNvSpPr>
            <a:spLocks noGrp="1"/>
          </p:cNvSpPr>
          <p:nvPr>
            <p:ph type="sldNum" sz="quarter" idx="12"/>
          </p:nvPr>
        </p:nvSpPr>
        <p:spPr/>
        <p:txBody>
          <a:bodyPr/>
          <a:lstStyle/>
          <a:p>
            <a:fld id="{9AA8B329-7075-4E8D-B380-2E77929090E4}" type="slidenum">
              <a:rPr lang="en-US" smtClean="0"/>
              <a:t>10</a:t>
            </a:fld>
            <a:endParaRPr lang="en-US" dirty="0"/>
          </a:p>
        </p:txBody>
      </p:sp>
      <p:sp>
        <p:nvSpPr>
          <p:cNvPr id="7" name="TextBox 6">
            <a:extLst>
              <a:ext uri="{FF2B5EF4-FFF2-40B4-BE49-F238E27FC236}">
                <a16:creationId xmlns:a16="http://schemas.microsoft.com/office/drawing/2014/main" id="{BD90FC5F-82F9-9B16-79DE-82B29740313D}"/>
              </a:ext>
            </a:extLst>
          </p:cNvPr>
          <p:cNvSpPr txBox="1"/>
          <p:nvPr/>
        </p:nvSpPr>
        <p:spPr>
          <a:xfrm>
            <a:off x="838200" y="461665"/>
            <a:ext cx="10736828" cy="6186309"/>
          </a:xfrm>
          <a:prstGeom prst="rect">
            <a:avLst/>
          </a:prstGeom>
          <a:noFill/>
        </p:spPr>
        <p:txBody>
          <a:bodyPr wrap="square">
            <a:spAutoFit/>
          </a:bodyPr>
          <a:lstStyle/>
          <a:p>
            <a:r>
              <a:rPr lang="en-US" sz="2000" b="1" dirty="0"/>
              <a:t>Main Components</a:t>
            </a:r>
          </a:p>
          <a:p>
            <a:endParaRPr lang="en-US" b="1" dirty="0"/>
          </a:p>
          <a:p>
            <a:r>
              <a:rPr lang="en-US" b="1" dirty="0"/>
              <a:t>Robot: </a:t>
            </a:r>
            <a:r>
              <a:rPr lang="en-US" dirty="0"/>
              <a:t>The robot is the mechanical device that performs physical tasks.</a:t>
            </a:r>
            <a:endParaRPr lang="en-US" b="1" dirty="0"/>
          </a:p>
          <a:p>
            <a:r>
              <a:rPr lang="en-US" b="1" dirty="0"/>
              <a:t>Example:  </a:t>
            </a:r>
            <a:r>
              <a:rPr lang="en-US" dirty="0"/>
              <a:t>Industrial robot arm, Mobile robot, Drone, and Humanoid robot.</a:t>
            </a:r>
            <a:endParaRPr lang="en-US" b="1" dirty="0"/>
          </a:p>
          <a:p>
            <a:endParaRPr lang="en-US" b="1" dirty="0"/>
          </a:p>
          <a:p>
            <a:r>
              <a:rPr lang="en-US" b="1" dirty="0"/>
              <a:t>Vision System: </a:t>
            </a:r>
            <a:r>
              <a:rPr lang="en-US" dirty="0"/>
              <a:t>The vision system acts as the robot's "eyes."</a:t>
            </a:r>
            <a:endParaRPr lang="en-US" b="1" dirty="0"/>
          </a:p>
          <a:p>
            <a:r>
              <a:rPr lang="en-US" b="1" dirty="0"/>
              <a:t>Example:  </a:t>
            </a:r>
            <a:r>
              <a:rPr lang="en-US" dirty="0"/>
              <a:t>Industrial robot arm, Mobile robot, Drone, and Humanoid robot.</a:t>
            </a:r>
            <a:endParaRPr lang="en-US" b="1" dirty="0"/>
          </a:p>
          <a:p>
            <a:endParaRPr lang="en-US" b="1" dirty="0"/>
          </a:p>
          <a:p>
            <a:r>
              <a:rPr lang="en-US" b="1" dirty="0"/>
              <a:t>Computer Vision: </a:t>
            </a:r>
            <a:r>
              <a:rPr lang="en-US" dirty="0"/>
              <a:t>Computer vision processes the images and extracts useful information.</a:t>
            </a:r>
            <a:endParaRPr lang="en-US" b="1" dirty="0"/>
          </a:p>
          <a:p>
            <a:r>
              <a:rPr lang="en-US" b="1" dirty="0"/>
              <a:t>Example:  </a:t>
            </a:r>
            <a:r>
              <a:rPr lang="en-US" dirty="0"/>
              <a:t>Object detection, Face recognition, Barcode reading, Defect detection, Measuring object dimensions, and Motion tracking</a:t>
            </a:r>
          </a:p>
          <a:p>
            <a:endParaRPr lang="en-US" b="1" dirty="0"/>
          </a:p>
          <a:p>
            <a:r>
              <a:rPr lang="en-US" b="1" dirty="0"/>
              <a:t>Artificial Intelligence: </a:t>
            </a:r>
            <a:r>
              <a:rPr lang="en-US" dirty="0"/>
              <a:t>AI acts as the robot's "brain.“.</a:t>
            </a:r>
            <a:endParaRPr lang="en-US" b="1" dirty="0"/>
          </a:p>
          <a:p>
            <a:r>
              <a:rPr lang="en-US" b="1" dirty="0"/>
              <a:t>Example:  </a:t>
            </a:r>
            <a:r>
              <a:rPr lang="en-US" dirty="0"/>
              <a:t>Object detection, Face recognition, Barcode reading, Defect detection, Measuring object dimensions, and Motion tracking</a:t>
            </a:r>
            <a:endParaRPr lang="en-US" b="1" dirty="0"/>
          </a:p>
          <a:p>
            <a:endParaRPr lang="en-US" b="1" dirty="0"/>
          </a:p>
          <a:p>
            <a:r>
              <a:rPr lang="en-US" b="1" dirty="0"/>
              <a:t>Controller: </a:t>
            </a:r>
            <a:r>
              <a:rPr lang="en-US" dirty="0"/>
              <a:t>The controller coordinates all system components.</a:t>
            </a:r>
          </a:p>
          <a:p>
            <a:r>
              <a:rPr lang="en-US" b="1" dirty="0"/>
              <a:t>Example:  </a:t>
            </a:r>
            <a:r>
              <a:rPr lang="en-US" dirty="0"/>
              <a:t>Industrial robot arm, Mobile robot, Drone, and Humanoid robot.</a:t>
            </a:r>
          </a:p>
          <a:p>
            <a:endParaRPr lang="en-US" b="1" dirty="0"/>
          </a:p>
          <a:p>
            <a:r>
              <a:rPr lang="en-US" b="1" dirty="0"/>
              <a:t>Sensors: </a:t>
            </a:r>
            <a:r>
              <a:rPr lang="en-US" dirty="0"/>
              <a:t>Additional sensors provide more information about the environment.</a:t>
            </a:r>
          </a:p>
          <a:p>
            <a:r>
              <a:rPr lang="en-US" b="1" dirty="0"/>
              <a:t>Example:  </a:t>
            </a:r>
            <a:r>
              <a:rPr lang="en-US" dirty="0"/>
              <a:t>Laser sensors (LiDAR), Ultrasonic sensors, Force sensors, Temperature sensors, Proximity sensors, and GPS (for outdoor robots)</a:t>
            </a:r>
            <a:endParaRPr lang="en-US" b="1" dirty="0"/>
          </a:p>
        </p:txBody>
      </p:sp>
    </p:spTree>
    <p:extLst>
      <p:ext uri="{BB962C8B-B14F-4D97-AF65-F5344CB8AC3E}">
        <p14:creationId xmlns:p14="http://schemas.microsoft.com/office/powerpoint/2010/main" val="1547650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4AC4E-0958-B78F-6CB6-9AC62897465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E74474-C8D9-5F24-24F0-5C622223EFE6}"/>
              </a:ext>
            </a:extLst>
          </p:cNvPr>
          <p:cNvSpPr>
            <a:spLocks noGrp="1"/>
          </p:cNvSpPr>
          <p:nvPr>
            <p:ph type="sldNum" sz="quarter" idx="12"/>
          </p:nvPr>
        </p:nvSpPr>
        <p:spPr/>
        <p:txBody>
          <a:bodyPr/>
          <a:lstStyle/>
          <a:p>
            <a:fld id="{9AA8B329-7075-4E8D-B380-2E77929090E4}" type="slidenum">
              <a:rPr lang="en-US" smtClean="0"/>
              <a:t>11</a:t>
            </a:fld>
            <a:endParaRPr lang="en-US" dirty="0"/>
          </a:p>
        </p:txBody>
      </p:sp>
      <p:sp>
        <p:nvSpPr>
          <p:cNvPr id="7" name="TextBox 6">
            <a:extLst>
              <a:ext uri="{FF2B5EF4-FFF2-40B4-BE49-F238E27FC236}">
                <a16:creationId xmlns:a16="http://schemas.microsoft.com/office/drawing/2014/main" id="{AF48C7F4-B6FC-6098-156D-C67F36A0AD3B}"/>
              </a:ext>
            </a:extLst>
          </p:cNvPr>
          <p:cNvSpPr txBox="1"/>
          <p:nvPr/>
        </p:nvSpPr>
        <p:spPr>
          <a:xfrm>
            <a:off x="639097" y="744476"/>
            <a:ext cx="10913806" cy="3693319"/>
          </a:xfrm>
          <a:prstGeom prst="rect">
            <a:avLst/>
          </a:prstGeom>
          <a:noFill/>
        </p:spPr>
        <p:txBody>
          <a:bodyPr wrap="square">
            <a:spAutoFit/>
          </a:bodyPr>
          <a:lstStyle/>
          <a:p>
            <a:pPr>
              <a:buNone/>
            </a:pPr>
            <a:r>
              <a:rPr lang="en-US" sz="2000" b="1" dirty="0"/>
              <a:t>Applications</a:t>
            </a:r>
          </a:p>
          <a:p>
            <a:pPr>
              <a:buNone/>
            </a:pPr>
            <a:endParaRPr lang="en-US" b="1" dirty="0"/>
          </a:p>
          <a:p>
            <a:pPr>
              <a:buNone/>
            </a:pPr>
            <a:r>
              <a:rPr lang="en-US" b="1" dirty="0"/>
              <a:t>Manufacturing: </a:t>
            </a:r>
            <a:r>
              <a:rPr lang="en-US" dirty="0"/>
              <a:t>Assembly, Welding, Painting, Quality inspection, and Packaging </a:t>
            </a:r>
          </a:p>
          <a:p>
            <a:pPr>
              <a:buFont typeface="Arial" panose="020B0604020202020204" pitchFamily="34" charset="0"/>
              <a:buChar char="•"/>
            </a:pPr>
            <a:endParaRPr lang="en-US" dirty="0"/>
          </a:p>
          <a:p>
            <a:pPr>
              <a:buNone/>
            </a:pPr>
            <a:r>
              <a:rPr lang="en-US" b="1" dirty="0"/>
              <a:t>Healthcare: </a:t>
            </a:r>
            <a:r>
              <a:rPr lang="en-US" dirty="0"/>
              <a:t>Surgical robots, Medical image analysis, Rehabilitation robots, and Pharmacy automation </a:t>
            </a:r>
          </a:p>
          <a:p>
            <a:pPr>
              <a:buNone/>
            </a:pPr>
            <a:endParaRPr lang="en-US" b="1" dirty="0"/>
          </a:p>
          <a:p>
            <a:pPr>
              <a:buNone/>
            </a:pPr>
            <a:r>
              <a:rPr lang="en-US" b="1" dirty="0"/>
              <a:t>Agriculture: </a:t>
            </a:r>
            <a:r>
              <a:rPr lang="en-US" dirty="0"/>
              <a:t>Crop monitoring , Fruit harvesting, and Weed detection, and Precision spraying </a:t>
            </a:r>
          </a:p>
          <a:p>
            <a:pPr>
              <a:buFont typeface="Arial" panose="020B0604020202020204" pitchFamily="34" charset="0"/>
              <a:buChar char="•"/>
            </a:pPr>
            <a:endParaRPr lang="en-US" dirty="0"/>
          </a:p>
          <a:p>
            <a:pPr>
              <a:buNone/>
            </a:pPr>
            <a:r>
              <a:rPr lang="en-US" b="1" dirty="0"/>
              <a:t>Transportation: </a:t>
            </a:r>
            <a:r>
              <a:rPr lang="en-US" dirty="0"/>
              <a:t>Self-driving vehicles, Delivery robots, and Warehouse automation </a:t>
            </a:r>
          </a:p>
          <a:p>
            <a:pPr>
              <a:buNone/>
            </a:pPr>
            <a:endParaRPr lang="en-US" b="1" dirty="0"/>
          </a:p>
          <a:p>
            <a:pPr>
              <a:buNone/>
            </a:pPr>
            <a:r>
              <a:rPr lang="en-US" b="1" dirty="0"/>
              <a:t>Security: </a:t>
            </a:r>
            <a:r>
              <a:rPr lang="en-US" dirty="0"/>
              <a:t>Face recognition, Surveillance, and Intruder detection </a:t>
            </a:r>
          </a:p>
          <a:p>
            <a:pPr>
              <a:buNone/>
            </a:pPr>
            <a:endParaRPr lang="en-US" b="1" dirty="0"/>
          </a:p>
          <a:p>
            <a:pPr>
              <a:buNone/>
            </a:pPr>
            <a:r>
              <a:rPr lang="en-US" b="1" dirty="0"/>
              <a:t>Service Industry: </a:t>
            </a:r>
            <a:r>
              <a:rPr lang="en-US" dirty="0"/>
              <a:t>Hotel robots, Restaurant robots, Cleaning robots robots, and Customer assistance</a:t>
            </a:r>
          </a:p>
        </p:txBody>
      </p:sp>
      <p:sp>
        <p:nvSpPr>
          <p:cNvPr id="8" name="TextBox 7">
            <a:extLst>
              <a:ext uri="{FF2B5EF4-FFF2-40B4-BE49-F238E27FC236}">
                <a16:creationId xmlns:a16="http://schemas.microsoft.com/office/drawing/2014/main" id="{F486FAD8-6C21-4935-B660-F0158819D8B9}"/>
              </a:ext>
            </a:extLst>
          </p:cNvPr>
          <p:cNvSpPr txBox="1"/>
          <p:nvPr/>
        </p:nvSpPr>
        <p:spPr>
          <a:xfrm>
            <a:off x="3404205" y="0"/>
            <a:ext cx="5383590" cy="461665"/>
          </a:xfrm>
          <a:prstGeom prst="rect">
            <a:avLst/>
          </a:prstGeom>
          <a:noFill/>
        </p:spPr>
        <p:txBody>
          <a:bodyPr wrap="none" rtlCol="0">
            <a:spAutoFit/>
          </a:bodyPr>
          <a:lstStyle/>
          <a:p>
            <a:r>
              <a:rPr lang="en-US" sz="2400" b="1" dirty="0"/>
              <a:t>Intelligent Robotic and Vision System</a:t>
            </a:r>
          </a:p>
        </p:txBody>
      </p:sp>
    </p:spTree>
    <p:extLst>
      <p:ext uri="{BB962C8B-B14F-4D97-AF65-F5344CB8AC3E}">
        <p14:creationId xmlns:p14="http://schemas.microsoft.com/office/powerpoint/2010/main" val="850312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FA9D53-E466-645C-D5AD-2D62A71E0603}"/>
              </a:ext>
            </a:extLst>
          </p:cNvPr>
          <p:cNvSpPr>
            <a:spLocks noGrp="1"/>
          </p:cNvSpPr>
          <p:nvPr>
            <p:ph type="sldNum" sz="quarter" idx="12"/>
          </p:nvPr>
        </p:nvSpPr>
        <p:spPr/>
        <p:txBody>
          <a:bodyPr/>
          <a:lstStyle/>
          <a:p>
            <a:fld id="{9AA8B329-7075-4E8D-B380-2E77929090E4}" type="slidenum">
              <a:rPr lang="en-US" smtClean="0"/>
              <a:t>12</a:t>
            </a:fld>
            <a:endParaRPr lang="en-US" dirty="0"/>
          </a:p>
        </p:txBody>
      </p:sp>
      <p:sp>
        <p:nvSpPr>
          <p:cNvPr id="3" name="TextBox 2">
            <a:extLst>
              <a:ext uri="{FF2B5EF4-FFF2-40B4-BE49-F238E27FC236}">
                <a16:creationId xmlns:a16="http://schemas.microsoft.com/office/drawing/2014/main" id="{191D2F1E-8A5C-DC99-703B-A529AAA1CCD5}"/>
              </a:ext>
            </a:extLst>
          </p:cNvPr>
          <p:cNvSpPr txBox="1"/>
          <p:nvPr/>
        </p:nvSpPr>
        <p:spPr>
          <a:xfrm>
            <a:off x="3404205" y="0"/>
            <a:ext cx="5383590" cy="461665"/>
          </a:xfrm>
          <a:prstGeom prst="rect">
            <a:avLst/>
          </a:prstGeom>
          <a:noFill/>
        </p:spPr>
        <p:txBody>
          <a:bodyPr wrap="none" rtlCol="0">
            <a:spAutoFit/>
          </a:bodyPr>
          <a:lstStyle/>
          <a:p>
            <a:r>
              <a:rPr lang="en-US" sz="2400" b="1" dirty="0"/>
              <a:t>Intelligent Robotic and Vision System</a:t>
            </a:r>
          </a:p>
        </p:txBody>
      </p:sp>
      <p:pic>
        <p:nvPicPr>
          <p:cNvPr id="4" name="Picture 3" descr="Vision-guided Robotics | Basler AG">
            <a:extLst>
              <a:ext uri="{FF2B5EF4-FFF2-40B4-BE49-F238E27FC236}">
                <a16:creationId xmlns:a16="http://schemas.microsoft.com/office/drawing/2014/main" id="{B77C2EDA-2993-4FE9-DF91-A302E1B2D719}"/>
              </a:ext>
            </a:extLst>
          </p:cNvPr>
          <p:cNvPicPr>
            <a:picLocks noChangeAspect="1"/>
          </p:cNvPicPr>
          <p:nvPr/>
        </p:nvPicPr>
        <p:blipFill>
          <a:blip r:embed="rId2"/>
          <a:stretch>
            <a:fillRect/>
          </a:stretch>
        </p:blipFill>
        <p:spPr>
          <a:xfrm>
            <a:off x="1524000" y="835127"/>
            <a:ext cx="9144000" cy="5143500"/>
          </a:xfrm>
          <a:prstGeom prst="rect">
            <a:avLst/>
          </a:prstGeom>
        </p:spPr>
      </p:pic>
    </p:spTree>
    <p:extLst>
      <p:ext uri="{BB962C8B-B14F-4D97-AF65-F5344CB8AC3E}">
        <p14:creationId xmlns:p14="http://schemas.microsoft.com/office/powerpoint/2010/main" val="1262784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9BB4-5F7F-BBE9-46D3-87519820AB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5EFC78-39E2-E9B0-4869-9D10E44BAE2B}"/>
              </a:ext>
            </a:extLst>
          </p:cNvPr>
          <p:cNvSpPr txBox="1"/>
          <p:nvPr/>
        </p:nvSpPr>
        <p:spPr>
          <a:xfrm>
            <a:off x="3509651" y="0"/>
            <a:ext cx="5172698" cy="461665"/>
          </a:xfrm>
          <a:prstGeom prst="rect">
            <a:avLst/>
          </a:prstGeom>
          <a:noFill/>
        </p:spPr>
        <p:txBody>
          <a:bodyPr wrap="none" rtlCol="0">
            <a:spAutoFit/>
          </a:bodyPr>
          <a:lstStyle/>
          <a:p>
            <a:r>
              <a:rPr lang="en-US" sz="2400" b="1" dirty="0"/>
              <a:t>IoT and Intelligent Distributed Agent</a:t>
            </a:r>
          </a:p>
        </p:txBody>
      </p:sp>
      <p:sp>
        <p:nvSpPr>
          <p:cNvPr id="4" name="Slide Number Placeholder 3">
            <a:extLst>
              <a:ext uri="{FF2B5EF4-FFF2-40B4-BE49-F238E27FC236}">
                <a16:creationId xmlns:a16="http://schemas.microsoft.com/office/drawing/2014/main" id="{E25B1F9D-67F4-ED0A-91F4-8ABF4757D449}"/>
              </a:ext>
            </a:extLst>
          </p:cNvPr>
          <p:cNvSpPr>
            <a:spLocks noGrp="1"/>
          </p:cNvSpPr>
          <p:nvPr>
            <p:ph type="sldNum" sz="quarter" idx="12"/>
          </p:nvPr>
        </p:nvSpPr>
        <p:spPr/>
        <p:txBody>
          <a:bodyPr/>
          <a:lstStyle/>
          <a:p>
            <a:fld id="{9AA8B329-7075-4E8D-B380-2E77929090E4}" type="slidenum">
              <a:rPr lang="en-US" smtClean="0"/>
              <a:t>13</a:t>
            </a:fld>
            <a:endParaRPr lang="en-US" dirty="0"/>
          </a:p>
        </p:txBody>
      </p:sp>
      <p:sp>
        <p:nvSpPr>
          <p:cNvPr id="6" name="TextBox 5">
            <a:extLst>
              <a:ext uri="{FF2B5EF4-FFF2-40B4-BE49-F238E27FC236}">
                <a16:creationId xmlns:a16="http://schemas.microsoft.com/office/drawing/2014/main" id="{5EA6AA5C-11DC-807B-D9BC-891B8AE71CF7}"/>
              </a:ext>
            </a:extLst>
          </p:cNvPr>
          <p:cNvSpPr txBox="1"/>
          <p:nvPr/>
        </p:nvSpPr>
        <p:spPr>
          <a:xfrm>
            <a:off x="825910" y="858230"/>
            <a:ext cx="10903974" cy="923330"/>
          </a:xfrm>
          <a:prstGeom prst="rect">
            <a:avLst/>
          </a:prstGeom>
          <a:noFill/>
        </p:spPr>
        <p:txBody>
          <a:bodyPr wrap="square">
            <a:spAutoFit/>
          </a:bodyPr>
          <a:lstStyle/>
          <a:p>
            <a:pPr algn="just">
              <a:buNone/>
            </a:pPr>
            <a:r>
              <a:rPr lang="en-US" b="1" dirty="0"/>
              <a:t>IoT (Internet of Things)</a:t>
            </a:r>
            <a:r>
              <a:rPr lang="en-US" dirty="0"/>
              <a:t> and </a:t>
            </a:r>
            <a:r>
              <a:rPr lang="en-US" b="1" dirty="0"/>
              <a:t>Intelligent Distributed Agents</a:t>
            </a:r>
            <a:r>
              <a:rPr lang="en-US" dirty="0"/>
              <a:t> are two important technologies in modern Artificial Intelligence and distributed computing. Together, they enable smart environments such as smart homes, smart factories, autonomous vehicles, healthcare systems, and intelligent cities.</a:t>
            </a:r>
          </a:p>
        </p:txBody>
      </p:sp>
      <p:sp>
        <p:nvSpPr>
          <p:cNvPr id="8" name="TextBox 7">
            <a:extLst>
              <a:ext uri="{FF2B5EF4-FFF2-40B4-BE49-F238E27FC236}">
                <a16:creationId xmlns:a16="http://schemas.microsoft.com/office/drawing/2014/main" id="{7BAA85B6-DE17-F683-C128-A395BBD16AB5}"/>
              </a:ext>
            </a:extLst>
          </p:cNvPr>
          <p:cNvSpPr txBox="1"/>
          <p:nvPr/>
        </p:nvSpPr>
        <p:spPr>
          <a:xfrm>
            <a:off x="825909" y="1932995"/>
            <a:ext cx="10903974" cy="1754326"/>
          </a:xfrm>
          <a:prstGeom prst="rect">
            <a:avLst/>
          </a:prstGeom>
          <a:noFill/>
        </p:spPr>
        <p:txBody>
          <a:bodyPr wrap="square">
            <a:spAutoFit/>
          </a:bodyPr>
          <a:lstStyle/>
          <a:p>
            <a:pPr algn="just">
              <a:buNone/>
            </a:pPr>
            <a:r>
              <a:rPr lang="en-US" b="1" dirty="0"/>
              <a:t>What is IoT (Internet of Things)?</a:t>
            </a:r>
          </a:p>
          <a:p>
            <a:pPr algn="just">
              <a:buNone/>
            </a:pPr>
            <a:r>
              <a:rPr lang="en-US" dirty="0"/>
              <a:t>The </a:t>
            </a:r>
            <a:r>
              <a:rPr lang="en-US" b="1" dirty="0"/>
              <a:t>Internet of Things (IoT)</a:t>
            </a:r>
            <a:r>
              <a:rPr lang="en-US" dirty="0"/>
              <a:t> is a network of physical devices connected to the Internet that can: Sense the environment, Collect data, Exchange information, Make decisions, and Perform actions automatically </a:t>
            </a:r>
          </a:p>
          <a:p>
            <a:pPr>
              <a:buNone/>
            </a:pPr>
            <a:endParaRPr lang="en-US" dirty="0"/>
          </a:p>
          <a:p>
            <a:pPr>
              <a:buNone/>
            </a:pPr>
            <a:r>
              <a:rPr lang="en-US" dirty="0"/>
              <a:t>These devices contain: Sensors, Actuators, Processors (microcontrollers), Communication modules (Wi-Fi, Bluetooth, Zigbee, 5G, and LoRa WAN)</a:t>
            </a:r>
          </a:p>
        </p:txBody>
      </p:sp>
      <p:sp>
        <p:nvSpPr>
          <p:cNvPr id="10" name="TextBox 9">
            <a:extLst>
              <a:ext uri="{FF2B5EF4-FFF2-40B4-BE49-F238E27FC236}">
                <a16:creationId xmlns:a16="http://schemas.microsoft.com/office/drawing/2014/main" id="{2E7078E4-A4D8-0834-49B1-71C10E33443A}"/>
              </a:ext>
            </a:extLst>
          </p:cNvPr>
          <p:cNvSpPr txBox="1"/>
          <p:nvPr/>
        </p:nvSpPr>
        <p:spPr>
          <a:xfrm>
            <a:off x="727587" y="4173590"/>
            <a:ext cx="11002295" cy="1200329"/>
          </a:xfrm>
          <a:prstGeom prst="rect">
            <a:avLst/>
          </a:prstGeom>
          <a:noFill/>
        </p:spPr>
        <p:txBody>
          <a:bodyPr wrap="square">
            <a:spAutoFit/>
          </a:bodyPr>
          <a:lstStyle/>
          <a:p>
            <a:pPr algn="just">
              <a:buNone/>
            </a:pPr>
            <a:r>
              <a:rPr lang="en-US" b="1" dirty="0"/>
              <a:t>What is a Distributed Agent?</a:t>
            </a:r>
          </a:p>
          <a:p>
            <a:pPr algn="just">
              <a:buNone/>
            </a:pPr>
            <a:r>
              <a:rPr lang="en-US" dirty="0"/>
              <a:t>A </a:t>
            </a:r>
            <a:r>
              <a:rPr lang="en-US" b="1" dirty="0"/>
              <a:t>Distributed Agent</a:t>
            </a:r>
            <a:r>
              <a:rPr lang="en-US" dirty="0"/>
              <a:t> is one of many intelligent agents working together across different computers or devices. Instead of one central controller: Each agent can make local decisions independently. , Agents communicate with one another, They cooperate to solve problems, and The system continues working even if one agent fails.</a:t>
            </a:r>
          </a:p>
        </p:txBody>
      </p:sp>
    </p:spTree>
    <p:extLst>
      <p:ext uri="{BB962C8B-B14F-4D97-AF65-F5344CB8AC3E}">
        <p14:creationId xmlns:p14="http://schemas.microsoft.com/office/powerpoint/2010/main" val="2590248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B7E27B-ADDF-EE67-97C0-5BF82B0A25B2}"/>
              </a:ext>
            </a:extLst>
          </p:cNvPr>
          <p:cNvSpPr>
            <a:spLocks noGrp="1"/>
          </p:cNvSpPr>
          <p:nvPr>
            <p:ph type="sldNum" sz="quarter" idx="12"/>
          </p:nvPr>
        </p:nvSpPr>
        <p:spPr/>
        <p:txBody>
          <a:bodyPr/>
          <a:lstStyle/>
          <a:p>
            <a:fld id="{9AA8B329-7075-4E8D-B380-2E77929090E4}" type="slidenum">
              <a:rPr lang="en-US" smtClean="0"/>
              <a:t>14</a:t>
            </a:fld>
            <a:endParaRPr lang="en-US" dirty="0"/>
          </a:p>
        </p:txBody>
      </p:sp>
      <p:sp>
        <p:nvSpPr>
          <p:cNvPr id="7" name="TextBox 6">
            <a:extLst>
              <a:ext uri="{FF2B5EF4-FFF2-40B4-BE49-F238E27FC236}">
                <a16:creationId xmlns:a16="http://schemas.microsoft.com/office/drawing/2014/main" id="{4581993C-9E26-0992-1124-5E71185C424C}"/>
              </a:ext>
            </a:extLst>
          </p:cNvPr>
          <p:cNvSpPr txBox="1"/>
          <p:nvPr/>
        </p:nvSpPr>
        <p:spPr>
          <a:xfrm>
            <a:off x="607142" y="4449603"/>
            <a:ext cx="10876935" cy="923330"/>
          </a:xfrm>
          <a:prstGeom prst="rect">
            <a:avLst/>
          </a:prstGeom>
          <a:noFill/>
        </p:spPr>
        <p:txBody>
          <a:bodyPr wrap="square">
            <a:spAutoFit/>
          </a:bodyPr>
          <a:lstStyle/>
          <a:p>
            <a:pPr>
              <a:buNone/>
            </a:pPr>
            <a:r>
              <a:rPr lang="en-US" b="1" dirty="0"/>
              <a:t>Think of it this way:</a:t>
            </a:r>
            <a:endParaRPr lang="en-US" dirty="0"/>
          </a:p>
          <a:p>
            <a:pPr>
              <a:buFont typeface="Arial" panose="020B0604020202020204" pitchFamily="34" charset="0"/>
              <a:buChar char="•"/>
            </a:pPr>
            <a:r>
              <a:rPr lang="en-US" dirty="0"/>
              <a:t>IoT provides the eyes, ears, and communication (sensors and networks). </a:t>
            </a:r>
          </a:p>
          <a:p>
            <a:pPr>
              <a:buFont typeface="Arial" panose="020B0604020202020204" pitchFamily="34" charset="0"/>
              <a:buChar char="•"/>
            </a:pPr>
            <a:r>
              <a:rPr lang="en-US" dirty="0"/>
              <a:t>Intelligent Distributed Agents provide the brain and teamwork (AI decision-making and coordination).</a:t>
            </a:r>
          </a:p>
        </p:txBody>
      </p:sp>
      <p:sp>
        <p:nvSpPr>
          <p:cNvPr id="10" name="TextBox 9">
            <a:extLst>
              <a:ext uri="{FF2B5EF4-FFF2-40B4-BE49-F238E27FC236}">
                <a16:creationId xmlns:a16="http://schemas.microsoft.com/office/drawing/2014/main" id="{88A69ABC-CF30-5F55-CBDC-B38691F052C4}"/>
              </a:ext>
            </a:extLst>
          </p:cNvPr>
          <p:cNvSpPr txBox="1"/>
          <p:nvPr/>
        </p:nvSpPr>
        <p:spPr>
          <a:xfrm>
            <a:off x="3459260" y="0"/>
            <a:ext cx="5172698" cy="461665"/>
          </a:xfrm>
          <a:prstGeom prst="rect">
            <a:avLst/>
          </a:prstGeom>
          <a:noFill/>
        </p:spPr>
        <p:txBody>
          <a:bodyPr wrap="none" rtlCol="0">
            <a:spAutoFit/>
          </a:bodyPr>
          <a:lstStyle/>
          <a:p>
            <a:r>
              <a:rPr lang="en-US" sz="2400" b="1" dirty="0"/>
              <a:t>IoT and Intelligent Distributed Agent</a:t>
            </a:r>
          </a:p>
        </p:txBody>
      </p:sp>
      <p:graphicFrame>
        <p:nvGraphicFramePr>
          <p:cNvPr id="4" name="Table 3">
            <a:extLst>
              <a:ext uri="{FF2B5EF4-FFF2-40B4-BE49-F238E27FC236}">
                <a16:creationId xmlns:a16="http://schemas.microsoft.com/office/drawing/2014/main" id="{F464E093-A50F-3B37-DE03-4DAA65048A0F}"/>
              </a:ext>
            </a:extLst>
          </p:cNvPr>
          <p:cNvGraphicFramePr>
            <a:graphicFrameLocks noGrp="1"/>
          </p:cNvGraphicFramePr>
          <p:nvPr>
            <p:extLst>
              <p:ext uri="{D42A27DB-BD31-4B8C-83A1-F6EECF244321}">
                <p14:modId xmlns:p14="http://schemas.microsoft.com/office/powerpoint/2010/main" val="2669229010"/>
              </p:ext>
            </p:extLst>
          </p:nvPr>
        </p:nvGraphicFramePr>
        <p:xfrm>
          <a:off x="492841" y="1160234"/>
          <a:ext cx="11105536" cy="2590800"/>
        </p:xfrm>
        <a:graphic>
          <a:graphicData uri="http://schemas.openxmlformats.org/drawingml/2006/table">
            <a:tbl>
              <a:tblPr firstRow="1" bandRow="1">
                <a:tableStyleId>{5C22544A-7EE6-4342-B048-85BDC9FD1C3A}</a:tableStyleId>
              </a:tblPr>
              <a:tblGrid>
                <a:gridCol w="5440066">
                  <a:extLst>
                    <a:ext uri="{9D8B030D-6E8A-4147-A177-3AD203B41FA5}">
                      <a16:colId xmlns:a16="http://schemas.microsoft.com/office/drawing/2014/main" val="592671958"/>
                    </a:ext>
                  </a:extLst>
                </a:gridCol>
                <a:gridCol w="5665470">
                  <a:extLst>
                    <a:ext uri="{9D8B030D-6E8A-4147-A177-3AD203B41FA5}">
                      <a16:colId xmlns:a16="http://schemas.microsoft.com/office/drawing/2014/main" val="2971116489"/>
                    </a:ext>
                  </a:extLst>
                </a:gridCol>
              </a:tblGrid>
              <a:tr h="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Relationship Between IoT and Intelligent Distributed Agents</a:t>
                      </a:r>
                    </a:p>
                  </a:txBody>
                  <a:tcPr/>
                </a:tc>
                <a:tc hMerge="1">
                  <a:txBody>
                    <a:bodyPr/>
                    <a:lstStyle/>
                    <a:p>
                      <a:endParaRPr lang="en-US" dirty="0"/>
                    </a:p>
                  </a:txBody>
                  <a:tcPr/>
                </a:tc>
                <a:extLst>
                  <a:ext uri="{0D108BD9-81ED-4DB2-BD59-A6C34878D82A}">
                    <a16:rowId xmlns:a16="http://schemas.microsoft.com/office/drawing/2014/main" val="1216575661"/>
                  </a:ext>
                </a:extLst>
              </a:tr>
              <a:tr h="370840">
                <a:tc>
                  <a:txBody>
                    <a:bodyPr/>
                    <a:lstStyle/>
                    <a:p>
                      <a:pPr>
                        <a:buNone/>
                      </a:pPr>
                      <a:r>
                        <a:rPr lang="en-US" b="1" dirty="0">
                          <a:solidFill>
                            <a:srgbClr val="0070C0"/>
                          </a:solidFill>
                        </a:rPr>
                        <a:t>IoT</a:t>
                      </a:r>
                    </a:p>
                  </a:txBody>
                  <a:tcPr/>
                </a:tc>
                <a:tc>
                  <a:txBody>
                    <a:bodyPr/>
                    <a:lstStyle/>
                    <a:p>
                      <a:pPr>
                        <a:buNone/>
                      </a:pPr>
                      <a:r>
                        <a:rPr lang="en-US" b="1" dirty="0">
                          <a:solidFill>
                            <a:srgbClr val="0070C0"/>
                          </a:solidFill>
                        </a:rPr>
                        <a:t>Intelligent Distributed Agents</a:t>
                      </a:r>
                    </a:p>
                  </a:txBody>
                  <a:tcPr/>
                </a:tc>
                <a:extLst>
                  <a:ext uri="{0D108BD9-81ED-4DB2-BD59-A6C34878D82A}">
                    <a16:rowId xmlns:a16="http://schemas.microsoft.com/office/drawing/2014/main" val="3998210129"/>
                  </a:ext>
                </a:extLst>
              </a:tr>
              <a:tr h="370840">
                <a:tc>
                  <a:txBody>
                    <a:bodyPr/>
                    <a:lstStyle/>
                    <a:p>
                      <a:pPr>
                        <a:buNone/>
                      </a:pPr>
                      <a:r>
                        <a:rPr lang="en-US" dirty="0"/>
                        <a:t>Collects data</a:t>
                      </a:r>
                    </a:p>
                  </a:txBody>
                  <a:tcPr/>
                </a:tc>
                <a:tc>
                  <a:txBody>
                    <a:bodyPr/>
                    <a:lstStyle/>
                    <a:p>
                      <a:pPr>
                        <a:buNone/>
                      </a:pPr>
                      <a:r>
                        <a:rPr lang="en-US" dirty="0"/>
                        <a:t>Analyzes data</a:t>
                      </a:r>
                    </a:p>
                  </a:txBody>
                  <a:tcPr/>
                </a:tc>
                <a:extLst>
                  <a:ext uri="{0D108BD9-81ED-4DB2-BD59-A6C34878D82A}">
                    <a16:rowId xmlns:a16="http://schemas.microsoft.com/office/drawing/2014/main" val="3039359751"/>
                  </a:ext>
                </a:extLst>
              </a:tr>
              <a:tr h="370840">
                <a:tc>
                  <a:txBody>
                    <a:bodyPr/>
                    <a:lstStyle/>
                    <a:p>
                      <a:pPr>
                        <a:buNone/>
                      </a:pPr>
                      <a:r>
                        <a:rPr lang="en-US" dirty="0"/>
                        <a:t>Connects devices</a:t>
                      </a:r>
                    </a:p>
                  </a:txBody>
                  <a:tcPr/>
                </a:tc>
                <a:tc>
                  <a:txBody>
                    <a:bodyPr/>
                    <a:lstStyle/>
                    <a:p>
                      <a:pPr>
                        <a:buNone/>
                      </a:pPr>
                      <a:r>
                        <a:rPr lang="en-US" dirty="0"/>
                        <a:t>Makes decisions</a:t>
                      </a:r>
                    </a:p>
                  </a:txBody>
                  <a:tcPr/>
                </a:tc>
                <a:extLst>
                  <a:ext uri="{0D108BD9-81ED-4DB2-BD59-A6C34878D82A}">
                    <a16:rowId xmlns:a16="http://schemas.microsoft.com/office/drawing/2014/main" val="2428374458"/>
                  </a:ext>
                </a:extLst>
              </a:tr>
              <a:tr h="370840">
                <a:tc>
                  <a:txBody>
                    <a:bodyPr/>
                    <a:lstStyle/>
                    <a:p>
                      <a:pPr>
                        <a:buNone/>
                      </a:pPr>
                      <a:r>
                        <a:rPr lang="en-US" dirty="0"/>
                        <a:t>Uses sensors</a:t>
                      </a:r>
                    </a:p>
                  </a:txBody>
                  <a:tcPr/>
                </a:tc>
                <a:tc>
                  <a:txBody>
                    <a:bodyPr/>
                    <a:lstStyle/>
                    <a:p>
                      <a:pPr>
                        <a:buNone/>
                      </a:pPr>
                      <a:r>
                        <a:rPr lang="en-US" dirty="0"/>
                        <a:t>Uses AI algorithms</a:t>
                      </a:r>
                    </a:p>
                  </a:txBody>
                  <a:tcPr/>
                </a:tc>
                <a:extLst>
                  <a:ext uri="{0D108BD9-81ED-4DB2-BD59-A6C34878D82A}">
                    <a16:rowId xmlns:a16="http://schemas.microsoft.com/office/drawing/2014/main" val="3832264171"/>
                  </a:ext>
                </a:extLst>
              </a:tr>
              <a:tr h="370840">
                <a:tc>
                  <a:txBody>
                    <a:bodyPr/>
                    <a:lstStyle/>
                    <a:p>
                      <a:pPr>
                        <a:buNone/>
                      </a:pPr>
                      <a:r>
                        <a:rPr lang="en-US" dirty="0"/>
                        <a:t>Sends information</a:t>
                      </a:r>
                    </a:p>
                  </a:txBody>
                  <a:tcPr/>
                </a:tc>
                <a:tc>
                  <a:txBody>
                    <a:bodyPr/>
                    <a:lstStyle/>
                    <a:p>
                      <a:pPr>
                        <a:buNone/>
                      </a:pPr>
                      <a:r>
                        <a:rPr lang="en-US" dirty="0"/>
                        <a:t>Coordinates actions</a:t>
                      </a:r>
                    </a:p>
                  </a:txBody>
                  <a:tcPr/>
                </a:tc>
                <a:extLst>
                  <a:ext uri="{0D108BD9-81ED-4DB2-BD59-A6C34878D82A}">
                    <a16:rowId xmlns:a16="http://schemas.microsoft.com/office/drawing/2014/main" val="3852596465"/>
                  </a:ext>
                </a:extLst>
              </a:tr>
              <a:tr h="370840">
                <a:tc>
                  <a:txBody>
                    <a:bodyPr/>
                    <a:lstStyle/>
                    <a:p>
                      <a:pPr>
                        <a:buNone/>
                      </a:pPr>
                      <a:r>
                        <a:rPr lang="en-US" dirty="0"/>
                        <a:t>Provides communication</a:t>
                      </a:r>
                    </a:p>
                  </a:txBody>
                  <a:tcPr/>
                </a:tc>
                <a:tc>
                  <a:txBody>
                    <a:bodyPr/>
                    <a:lstStyle/>
                    <a:p>
                      <a:pPr>
                        <a:buNone/>
                      </a:pPr>
                      <a:r>
                        <a:rPr lang="en-US" dirty="0"/>
                        <a:t>Provides intelligence</a:t>
                      </a:r>
                    </a:p>
                  </a:txBody>
                  <a:tcPr/>
                </a:tc>
                <a:extLst>
                  <a:ext uri="{0D108BD9-81ED-4DB2-BD59-A6C34878D82A}">
                    <a16:rowId xmlns:a16="http://schemas.microsoft.com/office/drawing/2014/main" val="1673364226"/>
                  </a:ext>
                </a:extLst>
              </a:tr>
            </a:tbl>
          </a:graphicData>
        </a:graphic>
      </p:graphicFrame>
    </p:spTree>
    <p:extLst>
      <p:ext uri="{BB962C8B-B14F-4D97-AF65-F5344CB8AC3E}">
        <p14:creationId xmlns:p14="http://schemas.microsoft.com/office/powerpoint/2010/main" val="734638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4A12BC-AB88-F5CF-4228-1D947F7F8F94}"/>
              </a:ext>
            </a:extLst>
          </p:cNvPr>
          <p:cNvSpPr>
            <a:spLocks noGrp="1"/>
          </p:cNvSpPr>
          <p:nvPr>
            <p:ph type="sldNum" sz="quarter" idx="12"/>
          </p:nvPr>
        </p:nvSpPr>
        <p:spPr/>
        <p:txBody>
          <a:bodyPr/>
          <a:lstStyle/>
          <a:p>
            <a:fld id="{9AA8B329-7075-4E8D-B380-2E77929090E4}" type="slidenum">
              <a:rPr lang="en-US" smtClean="0"/>
              <a:t>15</a:t>
            </a:fld>
            <a:endParaRPr lang="en-US" dirty="0"/>
          </a:p>
        </p:txBody>
      </p:sp>
      <p:sp>
        <p:nvSpPr>
          <p:cNvPr id="3" name="TextBox 2">
            <a:extLst>
              <a:ext uri="{FF2B5EF4-FFF2-40B4-BE49-F238E27FC236}">
                <a16:creationId xmlns:a16="http://schemas.microsoft.com/office/drawing/2014/main" id="{426E924E-8C5C-BA49-EEC3-949E67D67EFE}"/>
              </a:ext>
            </a:extLst>
          </p:cNvPr>
          <p:cNvSpPr txBox="1"/>
          <p:nvPr/>
        </p:nvSpPr>
        <p:spPr>
          <a:xfrm>
            <a:off x="3509651" y="0"/>
            <a:ext cx="5172698" cy="461665"/>
          </a:xfrm>
          <a:prstGeom prst="rect">
            <a:avLst/>
          </a:prstGeom>
          <a:noFill/>
        </p:spPr>
        <p:txBody>
          <a:bodyPr wrap="none" rtlCol="0">
            <a:spAutoFit/>
          </a:bodyPr>
          <a:lstStyle/>
          <a:p>
            <a:r>
              <a:rPr lang="en-US" sz="2400" b="1" dirty="0"/>
              <a:t>IoT and Intelligent Distributed Agent</a:t>
            </a:r>
          </a:p>
        </p:txBody>
      </p:sp>
      <p:pic>
        <p:nvPicPr>
          <p:cNvPr id="5" name="Picture 4" descr="Internet of Things-Based Multi-Agent System for the Control of Smart Street  Lighting">
            <a:extLst>
              <a:ext uri="{FF2B5EF4-FFF2-40B4-BE49-F238E27FC236}">
                <a16:creationId xmlns:a16="http://schemas.microsoft.com/office/drawing/2014/main" id="{35C52814-E339-4917-AE7B-53F362A8EBBF}"/>
              </a:ext>
            </a:extLst>
          </p:cNvPr>
          <p:cNvPicPr>
            <a:picLocks noChangeAspect="1"/>
          </p:cNvPicPr>
          <p:nvPr/>
        </p:nvPicPr>
        <p:blipFill>
          <a:blip r:embed="rId2"/>
          <a:stretch>
            <a:fillRect/>
          </a:stretch>
        </p:blipFill>
        <p:spPr>
          <a:xfrm>
            <a:off x="194210" y="1424719"/>
            <a:ext cx="5466522" cy="3409122"/>
          </a:xfrm>
          <a:prstGeom prst="rect">
            <a:avLst/>
          </a:prstGeom>
        </p:spPr>
      </p:pic>
      <p:pic>
        <p:nvPicPr>
          <p:cNvPr id="6" name="Picture 5" descr="Agentic AI + IoT: Building Self-Optimizing Ecosystems - Synclovis Systems">
            <a:extLst>
              <a:ext uri="{FF2B5EF4-FFF2-40B4-BE49-F238E27FC236}">
                <a16:creationId xmlns:a16="http://schemas.microsoft.com/office/drawing/2014/main" id="{317B6F29-CD89-4ECD-805B-6BCF67D842EA}"/>
              </a:ext>
            </a:extLst>
          </p:cNvPr>
          <p:cNvPicPr>
            <a:picLocks noChangeAspect="1"/>
          </p:cNvPicPr>
          <p:nvPr/>
        </p:nvPicPr>
        <p:blipFill>
          <a:blip r:embed="rId3"/>
          <a:stretch>
            <a:fillRect/>
          </a:stretch>
        </p:blipFill>
        <p:spPr>
          <a:xfrm>
            <a:off x="5660732" y="538480"/>
            <a:ext cx="6043233" cy="5181600"/>
          </a:xfrm>
          <a:prstGeom prst="rect">
            <a:avLst/>
          </a:prstGeom>
        </p:spPr>
      </p:pic>
    </p:spTree>
    <p:extLst>
      <p:ext uri="{BB962C8B-B14F-4D97-AF65-F5344CB8AC3E}">
        <p14:creationId xmlns:p14="http://schemas.microsoft.com/office/powerpoint/2010/main" val="41146887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3E711-73C4-56BB-FDDD-1E6D8A4237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6CA8FA6-D636-033E-D4B3-233071B8801D}"/>
              </a:ext>
            </a:extLst>
          </p:cNvPr>
          <p:cNvSpPr txBox="1"/>
          <p:nvPr/>
        </p:nvSpPr>
        <p:spPr>
          <a:xfrm>
            <a:off x="4832247" y="0"/>
            <a:ext cx="2657009" cy="461665"/>
          </a:xfrm>
          <a:prstGeom prst="rect">
            <a:avLst/>
          </a:prstGeom>
          <a:noFill/>
        </p:spPr>
        <p:txBody>
          <a:bodyPr wrap="none" rtlCol="0">
            <a:spAutoFit/>
          </a:bodyPr>
          <a:lstStyle/>
          <a:p>
            <a:r>
              <a:rPr lang="en-US" sz="2400" b="1" dirty="0"/>
              <a:t>Machine Learning</a:t>
            </a:r>
          </a:p>
        </p:txBody>
      </p:sp>
      <p:sp>
        <p:nvSpPr>
          <p:cNvPr id="3" name="TextBox 2">
            <a:extLst>
              <a:ext uri="{FF2B5EF4-FFF2-40B4-BE49-F238E27FC236}">
                <a16:creationId xmlns:a16="http://schemas.microsoft.com/office/drawing/2014/main" id="{480416E5-AFDD-2820-D1DA-6E225DED16C6}"/>
              </a:ext>
            </a:extLst>
          </p:cNvPr>
          <p:cNvSpPr txBox="1"/>
          <p:nvPr/>
        </p:nvSpPr>
        <p:spPr>
          <a:xfrm>
            <a:off x="244521" y="642251"/>
            <a:ext cx="11573852" cy="2339102"/>
          </a:xfrm>
          <a:prstGeom prst="rect">
            <a:avLst/>
          </a:prstGeom>
          <a:noFill/>
        </p:spPr>
        <p:txBody>
          <a:bodyPr wrap="square" rtlCol="0">
            <a:spAutoFit/>
          </a:bodyPr>
          <a:lstStyle/>
          <a:p>
            <a:pPr algn="just"/>
            <a:r>
              <a:rPr lang="en-US" sz="2000" b="1" dirty="0"/>
              <a:t>Major Model of Machine Learning</a:t>
            </a:r>
          </a:p>
          <a:p>
            <a:pPr algn="just"/>
            <a:endParaRPr lang="en-US" sz="1400" b="1" dirty="0"/>
          </a:p>
          <a:p>
            <a:pPr algn="just"/>
            <a:r>
              <a:rPr lang="en-US" sz="1400" b="1" dirty="0"/>
              <a:t>Supervised Learning Supervised learning learns a mapping from labeled input data to output labels so it can accurately predict future outcomes.</a:t>
            </a:r>
            <a:endParaRPr lang="en-US" sz="1400" dirty="0"/>
          </a:p>
          <a:p>
            <a:pPr algn="just"/>
            <a:endParaRPr lang="en-US" sz="1400" b="1" dirty="0"/>
          </a:p>
          <a:p>
            <a:pPr algn="just"/>
            <a:r>
              <a:rPr lang="en-US" sz="1400" b="1" dirty="0"/>
              <a:t>Unsupervised Learning:</a:t>
            </a:r>
            <a:r>
              <a:rPr lang="en-US" sz="1400" dirty="0"/>
              <a:t> Unsupervised learning uses unlabeled data to discover hidden patterns or group similar data. and let the model to figure out by itself.</a:t>
            </a:r>
          </a:p>
          <a:p>
            <a:pPr algn="just"/>
            <a:endParaRPr lang="en-US" sz="1400" b="1" dirty="0"/>
          </a:p>
          <a:p>
            <a:pPr algn="just"/>
            <a:r>
              <a:rPr lang="en-US" sz="1400" b="1" dirty="0"/>
              <a:t>Reinforcement Learning:</a:t>
            </a:r>
            <a:r>
              <a:rPr lang="en-US" sz="1400" dirty="0"/>
              <a:t> It is trial and error like teaching a dog by giving food for good manner and etc.</a:t>
            </a:r>
          </a:p>
          <a:p>
            <a:pPr algn="just"/>
            <a:endParaRPr lang="en-US" sz="1400" dirty="0"/>
          </a:p>
        </p:txBody>
      </p:sp>
      <p:sp>
        <p:nvSpPr>
          <p:cNvPr id="10" name="TextBox 9">
            <a:extLst>
              <a:ext uri="{FF2B5EF4-FFF2-40B4-BE49-F238E27FC236}">
                <a16:creationId xmlns:a16="http://schemas.microsoft.com/office/drawing/2014/main" id="{9C357A14-0B25-A5C6-5D39-325F1B0303B6}"/>
              </a:ext>
            </a:extLst>
          </p:cNvPr>
          <p:cNvSpPr txBox="1"/>
          <p:nvPr/>
        </p:nvSpPr>
        <p:spPr>
          <a:xfrm>
            <a:off x="244521" y="2606748"/>
            <a:ext cx="11406703" cy="3693319"/>
          </a:xfrm>
          <a:prstGeom prst="rect">
            <a:avLst/>
          </a:prstGeom>
          <a:noFill/>
        </p:spPr>
        <p:txBody>
          <a:bodyPr wrap="square">
            <a:spAutoFit/>
          </a:bodyPr>
          <a:lstStyle/>
          <a:p>
            <a:r>
              <a:rPr lang="en-US" sz="2000" b="1" dirty="0"/>
              <a:t>Machine Learning  Process or Pipeline</a:t>
            </a:r>
          </a:p>
          <a:p>
            <a:endParaRPr lang="en-US" dirty="0"/>
          </a:p>
          <a:p>
            <a:r>
              <a:rPr lang="en-US" dirty="0"/>
              <a:t>First, collect data from a real-world application or a random generator.</a:t>
            </a:r>
          </a:p>
          <a:p>
            <a:endParaRPr lang="en-US" dirty="0"/>
          </a:p>
          <a:p>
            <a:r>
              <a:rPr lang="en-US" dirty="0"/>
              <a:t>Next, clean the data by removing duplicate rows, outliers, and empty values, and apply feature engineering to improve it.</a:t>
            </a:r>
          </a:p>
          <a:p>
            <a:endParaRPr lang="en-US" dirty="0"/>
          </a:p>
          <a:p>
            <a:r>
              <a:rPr lang="en-US" dirty="0"/>
              <a:t>We use models such as Linear Regression, Clustering, and Logistic Regression to map input to output.</a:t>
            </a:r>
          </a:p>
          <a:p>
            <a:endParaRPr lang="en-US" dirty="0"/>
          </a:p>
          <a:p>
            <a:r>
              <a:rPr lang="en-US" dirty="0"/>
              <a:t>Let the model learn from data, that dim, and tune it to produce metrics such as accuracy.</a:t>
            </a:r>
          </a:p>
          <a:p>
            <a:endParaRPr lang="en-US" dirty="0"/>
          </a:p>
          <a:p>
            <a:r>
              <a:rPr lang="en-US" dirty="0"/>
              <a:t>We can use AutoML to automate all the above processes; an expert human must monitor for safety and ethical considerations.</a:t>
            </a:r>
            <a:endParaRPr lang="en-US" dirty="0">
              <a:effectLst/>
            </a:endParaRPr>
          </a:p>
        </p:txBody>
      </p:sp>
      <p:sp>
        <p:nvSpPr>
          <p:cNvPr id="11" name="Slide Number Placeholder 10">
            <a:extLst>
              <a:ext uri="{FF2B5EF4-FFF2-40B4-BE49-F238E27FC236}">
                <a16:creationId xmlns:a16="http://schemas.microsoft.com/office/drawing/2014/main" id="{51189A3D-6706-946B-B3C9-B95C2C593297}"/>
              </a:ext>
            </a:extLst>
          </p:cNvPr>
          <p:cNvSpPr>
            <a:spLocks noGrp="1"/>
          </p:cNvSpPr>
          <p:nvPr>
            <p:ph type="sldNum" sz="quarter" idx="12"/>
          </p:nvPr>
        </p:nvSpPr>
        <p:spPr/>
        <p:txBody>
          <a:bodyPr/>
          <a:lstStyle/>
          <a:p>
            <a:fld id="{9AA8B329-7075-4E8D-B380-2E77929090E4}" type="slidenum">
              <a:rPr lang="en-US" smtClean="0"/>
              <a:t>16</a:t>
            </a:fld>
            <a:endParaRPr lang="en-US" dirty="0"/>
          </a:p>
        </p:txBody>
      </p:sp>
    </p:spTree>
    <p:extLst>
      <p:ext uri="{BB962C8B-B14F-4D97-AF65-F5344CB8AC3E}">
        <p14:creationId xmlns:p14="http://schemas.microsoft.com/office/powerpoint/2010/main" val="2467316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055579-97BE-ED57-39D4-D708341ECD2E}"/>
              </a:ext>
            </a:extLst>
          </p:cNvPr>
          <p:cNvSpPr>
            <a:spLocks noGrp="1"/>
          </p:cNvSpPr>
          <p:nvPr>
            <p:ph type="sldNum" sz="quarter" idx="12"/>
          </p:nvPr>
        </p:nvSpPr>
        <p:spPr/>
        <p:txBody>
          <a:bodyPr/>
          <a:lstStyle/>
          <a:p>
            <a:fld id="{9AA8B329-7075-4E8D-B380-2E77929090E4}" type="slidenum">
              <a:rPr lang="en-US" smtClean="0"/>
              <a:t>17</a:t>
            </a:fld>
            <a:endParaRPr lang="en-US" dirty="0"/>
          </a:p>
        </p:txBody>
      </p:sp>
      <p:sp>
        <p:nvSpPr>
          <p:cNvPr id="3" name="TextBox 2">
            <a:extLst>
              <a:ext uri="{FF2B5EF4-FFF2-40B4-BE49-F238E27FC236}">
                <a16:creationId xmlns:a16="http://schemas.microsoft.com/office/drawing/2014/main" id="{F5CA6E09-8D10-F34B-189A-7DD19E4CB94E}"/>
              </a:ext>
            </a:extLst>
          </p:cNvPr>
          <p:cNvSpPr txBox="1"/>
          <p:nvPr/>
        </p:nvSpPr>
        <p:spPr>
          <a:xfrm>
            <a:off x="4832247" y="0"/>
            <a:ext cx="2657009" cy="461665"/>
          </a:xfrm>
          <a:prstGeom prst="rect">
            <a:avLst/>
          </a:prstGeom>
          <a:noFill/>
        </p:spPr>
        <p:txBody>
          <a:bodyPr wrap="none" rtlCol="0">
            <a:spAutoFit/>
          </a:bodyPr>
          <a:lstStyle/>
          <a:p>
            <a:r>
              <a:rPr lang="en-US" sz="2400" b="1" dirty="0"/>
              <a:t>Machine Learning</a:t>
            </a:r>
          </a:p>
        </p:txBody>
      </p:sp>
      <p:pic>
        <p:nvPicPr>
          <p:cNvPr id="4" name="Picture 3" descr="The 7 Stages of Machine Learning: A Complete Guide from Data to Prediction">
            <a:extLst>
              <a:ext uri="{FF2B5EF4-FFF2-40B4-BE49-F238E27FC236}">
                <a16:creationId xmlns:a16="http://schemas.microsoft.com/office/drawing/2014/main" id="{6EF80815-321F-FED2-DD6A-68D1F07EA324}"/>
              </a:ext>
            </a:extLst>
          </p:cNvPr>
          <p:cNvPicPr>
            <a:picLocks noChangeAspect="1"/>
          </p:cNvPicPr>
          <p:nvPr/>
        </p:nvPicPr>
        <p:blipFill>
          <a:blip r:embed="rId2"/>
          <a:stretch>
            <a:fillRect/>
          </a:stretch>
        </p:blipFill>
        <p:spPr>
          <a:xfrm>
            <a:off x="1038225" y="585787"/>
            <a:ext cx="10115550" cy="5686425"/>
          </a:xfrm>
          <a:prstGeom prst="rect">
            <a:avLst/>
          </a:prstGeom>
        </p:spPr>
      </p:pic>
    </p:spTree>
    <p:extLst>
      <p:ext uri="{BB962C8B-B14F-4D97-AF65-F5344CB8AC3E}">
        <p14:creationId xmlns:p14="http://schemas.microsoft.com/office/powerpoint/2010/main" val="2479248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E6C1B-3123-0BAF-634A-9DCD890FA0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37222C8-5367-6B33-6E6A-E0F90B1A5B97}"/>
              </a:ext>
            </a:extLst>
          </p:cNvPr>
          <p:cNvSpPr txBox="1"/>
          <p:nvPr/>
        </p:nvSpPr>
        <p:spPr>
          <a:xfrm>
            <a:off x="3353967" y="0"/>
            <a:ext cx="5484065" cy="461665"/>
          </a:xfrm>
          <a:prstGeom prst="rect">
            <a:avLst/>
          </a:prstGeom>
          <a:noFill/>
        </p:spPr>
        <p:txBody>
          <a:bodyPr wrap="none" rtlCol="0">
            <a:spAutoFit/>
          </a:bodyPr>
          <a:lstStyle/>
          <a:p>
            <a:pPr algn="ctr"/>
            <a:r>
              <a:rPr lang="en-US" sz="2400" b="1" dirty="0"/>
              <a:t>Machine Learning in Chip or Hardware</a:t>
            </a:r>
          </a:p>
        </p:txBody>
      </p:sp>
      <p:sp>
        <p:nvSpPr>
          <p:cNvPr id="10" name="TextBox 9">
            <a:extLst>
              <a:ext uri="{FF2B5EF4-FFF2-40B4-BE49-F238E27FC236}">
                <a16:creationId xmlns:a16="http://schemas.microsoft.com/office/drawing/2014/main" id="{169F2F6B-ECBF-8B83-9E01-12B86A39E6FF}"/>
              </a:ext>
            </a:extLst>
          </p:cNvPr>
          <p:cNvSpPr txBox="1"/>
          <p:nvPr/>
        </p:nvSpPr>
        <p:spPr>
          <a:xfrm>
            <a:off x="224197" y="696436"/>
            <a:ext cx="11406703" cy="646331"/>
          </a:xfrm>
          <a:prstGeom prst="rect">
            <a:avLst/>
          </a:prstGeom>
          <a:noFill/>
        </p:spPr>
        <p:txBody>
          <a:bodyPr wrap="square">
            <a:spAutoFit/>
          </a:bodyPr>
          <a:lstStyle/>
          <a:p>
            <a:r>
              <a:rPr lang="en-US" dirty="0"/>
              <a:t>Machine Learning in chips or hardware refers to </a:t>
            </a:r>
            <a:r>
              <a:rPr lang="en-US" b="1" dirty="0"/>
              <a:t>designing computer hardware that can run machine learning algorithms efficiently</a:t>
            </a:r>
            <a:r>
              <a:rPr lang="en-US" dirty="0"/>
              <a:t>, often with lower power consumption and much higher speed than a general-purpose CPU.</a:t>
            </a:r>
            <a:endParaRPr lang="en-US" dirty="0">
              <a:effectLst/>
            </a:endParaRPr>
          </a:p>
        </p:txBody>
      </p:sp>
      <p:sp>
        <p:nvSpPr>
          <p:cNvPr id="4" name="TextBox 3">
            <a:extLst>
              <a:ext uri="{FF2B5EF4-FFF2-40B4-BE49-F238E27FC236}">
                <a16:creationId xmlns:a16="http://schemas.microsoft.com/office/drawing/2014/main" id="{5012D124-72C6-DF87-B407-987DF925B5BF}"/>
              </a:ext>
            </a:extLst>
          </p:cNvPr>
          <p:cNvSpPr txBox="1"/>
          <p:nvPr/>
        </p:nvSpPr>
        <p:spPr>
          <a:xfrm>
            <a:off x="224197" y="1495908"/>
            <a:ext cx="11406703" cy="923330"/>
          </a:xfrm>
          <a:prstGeom prst="rect">
            <a:avLst/>
          </a:prstGeom>
          <a:noFill/>
        </p:spPr>
        <p:txBody>
          <a:bodyPr wrap="square">
            <a:spAutoFit/>
          </a:bodyPr>
          <a:lstStyle/>
          <a:p>
            <a:r>
              <a:rPr lang="en-US" b="1" dirty="0"/>
              <a:t>CPUs are commonly used for data preprocessing, software development, and inference for smaller models.</a:t>
            </a:r>
            <a:r>
              <a:rPr lang="en-US" dirty="0"/>
              <a:t> and software development and inference.</a:t>
            </a:r>
          </a:p>
          <a:p>
            <a:r>
              <a:rPr lang="en-US" dirty="0">
                <a:effectLst/>
              </a:rPr>
              <a:t>Example AMD Ryzen 9 9950X and Intel Core Ultra 9</a:t>
            </a:r>
          </a:p>
        </p:txBody>
      </p:sp>
      <p:sp>
        <p:nvSpPr>
          <p:cNvPr id="5" name="TextBox 4">
            <a:extLst>
              <a:ext uri="{FF2B5EF4-FFF2-40B4-BE49-F238E27FC236}">
                <a16:creationId xmlns:a16="http://schemas.microsoft.com/office/drawing/2014/main" id="{BFD0A30C-0282-00E9-AD14-2D2D8406DB9E}"/>
              </a:ext>
            </a:extLst>
          </p:cNvPr>
          <p:cNvSpPr txBox="1"/>
          <p:nvPr/>
        </p:nvSpPr>
        <p:spPr>
          <a:xfrm>
            <a:off x="224197" y="2572379"/>
            <a:ext cx="11406703" cy="646331"/>
          </a:xfrm>
          <a:prstGeom prst="rect">
            <a:avLst/>
          </a:prstGeom>
          <a:noFill/>
        </p:spPr>
        <p:txBody>
          <a:bodyPr wrap="square">
            <a:spAutoFit/>
          </a:bodyPr>
          <a:lstStyle/>
          <a:p>
            <a:r>
              <a:rPr lang="en-US" b="1" dirty="0">
                <a:effectLst/>
              </a:rPr>
              <a:t>GPU</a:t>
            </a:r>
            <a:r>
              <a:rPr lang="en-US" dirty="0">
                <a:effectLst/>
              </a:rPr>
              <a:t> is used for deep learning,, image recognition, large language model, and Video AI.</a:t>
            </a:r>
          </a:p>
          <a:p>
            <a:r>
              <a:rPr lang="en-US" dirty="0"/>
              <a:t>Example: NVIDIA GeForce RTX 5090</a:t>
            </a:r>
            <a:endParaRPr lang="en-US" dirty="0">
              <a:effectLst/>
            </a:endParaRPr>
          </a:p>
        </p:txBody>
      </p:sp>
      <p:sp>
        <p:nvSpPr>
          <p:cNvPr id="6" name="TextBox 5">
            <a:extLst>
              <a:ext uri="{FF2B5EF4-FFF2-40B4-BE49-F238E27FC236}">
                <a16:creationId xmlns:a16="http://schemas.microsoft.com/office/drawing/2014/main" id="{31D4FF16-CBDB-2440-6DCA-23D9BACAFF9A}"/>
              </a:ext>
            </a:extLst>
          </p:cNvPr>
          <p:cNvSpPr txBox="1"/>
          <p:nvPr/>
        </p:nvSpPr>
        <p:spPr>
          <a:xfrm>
            <a:off x="224197" y="3371851"/>
            <a:ext cx="11406703" cy="646331"/>
          </a:xfrm>
          <a:prstGeom prst="rect">
            <a:avLst/>
          </a:prstGeom>
          <a:noFill/>
        </p:spPr>
        <p:txBody>
          <a:bodyPr wrap="square">
            <a:spAutoFit/>
          </a:bodyPr>
          <a:lstStyle/>
          <a:p>
            <a:r>
              <a:rPr lang="en-US" b="1" dirty="0">
                <a:effectLst/>
              </a:rPr>
              <a:t>TPU</a:t>
            </a:r>
            <a:r>
              <a:rPr lang="en-US" dirty="0">
                <a:effectLst/>
              </a:rPr>
              <a:t> is</a:t>
            </a:r>
            <a:r>
              <a:rPr lang="en-US" dirty="0"/>
              <a:t> specialized processors optimized for TensorFlow and large-scale matrix operations.</a:t>
            </a:r>
          </a:p>
          <a:p>
            <a:r>
              <a:rPr lang="en-US" dirty="0"/>
              <a:t>Example: Google Search, Google Translate, Gemini, and Image Recognition</a:t>
            </a:r>
            <a:endParaRPr lang="en-US" dirty="0">
              <a:effectLst/>
            </a:endParaRPr>
          </a:p>
        </p:txBody>
      </p:sp>
      <p:sp>
        <p:nvSpPr>
          <p:cNvPr id="7" name="TextBox 6">
            <a:extLst>
              <a:ext uri="{FF2B5EF4-FFF2-40B4-BE49-F238E27FC236}">
                <a16:creationId xmlns:a16="http://schemas.microsoft.com/office/drawing/2014/main" id="{9878CA05-3E89-6D20-9723-DEFC95AEF674}"/>
              </a:ext>
            </a:extLst>
          </p:cNvPr>
          <p:cNvSpPr txBox="1"/>
          <p:nvPr/>
        </p:nvSpPr>
        <p:spPr>
          <a:xfrm>
            <a:off x="224197" y="4171323"/>
            <a:ext cx="11406703" cy="369332"/>
          </a:xfrm>
          <a:prstGeom prst="rect">
            <a:avLst/>
          </a:prstGeom>
          <a:noFill/>
        </p:spPr>
        <p:txBody>
          <a:bodyPr wrap="square">
            <a:spAutoFit/>
          </a:bodyPr>
          <a:lstStyle/>
          <a:p>
            <a:r>
              <a:rPr lang="en-US" b="1" dirty="0"/>
              <a:t>FPGA</a:t>
            </a:r>
            <a:r>
              <a:rPr lang="en-US" dirty="0"/>
              <a:t> is used in Medical Equipment, Radar, Industrial Robots, and Network Devices</a:t>
            </a:r>
            <a:endParaRPr lang="en-US" dirty="0">
              <a:effectLst/>
            </a:endParaRPr>
          </a:p>
        </p:txBody>
      </p:sp>
      <p:sp>
        <p:nvSpPr>
          <p:cNvPr id="8" name="TextBox 7">
            <a:extLst>
              <a:ext uri="{FF2B5EF4-FFF2-40B4-BE49-F238E27FC236}">
                <a16:creationId xmlns:a16="http://schemas.microsoft.com/office/drawing/2014/main" id="{20D0CAEB-CAE6-1F3C-A82D-1B68DD757A3E}"/>
              </a:ext>
            </a:extLst>
          </p:cNvPr>
          <p:cNvSpPr txBox="1"/>
          <p:nvPr/>
        </p:nvSpPr>
        <p:spPr>
          <a:xfrm>
            <a:off x="224197" y="4693796"/>
            <a:ext cx="11406703" cy="646331"/>
          </a:xfrm>
          <a:prstGeom prst="rect">
            <a:avLst/>
          </a:prstGeom>
          <a:noFill/>
        </p:spPr>
        <p:txBody>
          <a:bodyPr wrap="square">
            <a:spAutoFit/>
          </a:bodyPr>
          <a:lstStyle/>
          <a:p>
            <a:r>
              <a:rPr lang="en-US" b="1" dirty="0"/>
              <a:t>ASIC</a:t>
            </a:r>
            <a:r>
              <a:rPr lang="en-US" dirty="0"/>
              <a:t> is used in Extremely Fast and Very Energy Efficient</a:t>
            </a:r>
          </a:p>
          <a:p>
            <a:r>
              <a:rPr lang="en-US" dirty="0">
                <a:effectLst/>
              </a:rPr>
              <a:t>Example: Smartphone AI processor, Bitcoin Mining Chip, and A</a:t>
            </a:r>
            <a:r>
              <a:rPr lang="en-US" dirty="0"/>
              <a:t>I accelerator for Data Centers.</a:t>
            </a:r>
            <a:endParaRPr lang="en-US" dirty="0">
              <a:effectLst/>
            </a:endParaRPr>
          </a:p>
        </p:txBody>
      </p:sp>
      <p:sp>
        <p:nvSpPr>
          <p:cNvPr id="12" name="TextBox 11">
            <a:extLst>
              <a:ext uri="{FF2B5EF4-FFF2-40B4-BE49-F238E27FC236}">
                <a16:creationId xmlns:a16="http://schemas.microsoft.com/office/drawing/2014/main" id="{AC538160-650A-1A53-0DB2-AEDE915CF4B9}"/>
              </a:ext>
            </a:extLst>
          </p:cNvPr>
          <p:cNvSpPr txBox="1"/>
          <p:nvPr/>
        </p:nvSpPr>
        <p:spPr>
          <a:xfrm>
            <a:off x="224197" y="5493268"/>
            <a:ext cx="11406703" cy="646331"/>
          </a:xfrm>
          <a:prstGeom prst="rect">
            <a:avLst/>
          </a:prstGeom>
          <a:noFill/>
        </p:spPr>
        <p:txBody>
          <a:bodyPr wrap="square">
            <a:spAutoFit/>
          </a:bodyPr>
          <a:lstStyle/>
          <a:p>
            <a:r>
              <a:rPr lang="en-US" b="1" dirty="0"/>
              <a:t>AI Hardware Architecture Process.</a:t>
            </a:r>
          </a:p>
          <a:p>
            <a:r>
              <a:rPr lang="en-US" dirty="0">
                <a:effectLst/>
              </a:rPr>
              <a:t>Sensor, AI Chip, Neural Network, and Prediction are process or flowchart of AI Hardware Design.</a:t>
            </a:r>
          </a:p>
        </p:txBody>
      </p:sp>
      <p:sp>
        <p:nvSpPr>
          <p:cNvPr id="13" name="Slide Number Placeholder 12">
            <a:extLst>
              <a:ext uri="{FF2B5EF4-FFF2-40B4-BE49-F238E27FC236}">
                <a16:creationId xmlns:a16="http://schemas.microsoft.com/office/drawing/2014/main" id="{3C52E63E-9590-01B2-7D20-E3F80EB8C556}"/>
              </a:ext>
            </a:extLst>
          </p:cNvPr>
          <p:cNvSpPr>
            <a:spLocks noGrp="1"/>
          </p:cNvSpPr>
          <p:nvPr>
            <p:ph type="sldNum" sz="quarter" idx="12"/>
          </p:nvPr>
        </p:nvSpPr>
        <p:spPr/>
        <p:txBody>
          <a:bodyPr/>
          <a:lstStyle/>
          <a:p>
            <a:fld id="{9AA8B329-7075-4E8D-B380-2E77929090E4}" type="slidenum">
              <a:rPr lang="en-US" smtClean="0"/>
              <a:t>18</a:t>
            </a:fld>
            <a:endParaRPr lang="en-US" dirty="0"/>
          </a:p>
        </p:txBody>
      </p:sp>
    </p:spTree>
    <p:extLst>
      <p:ext uri="{BB962C8B-B14F-4D97-AF65-F5344CB8AC3E}">
        <p14:creationId xmlns:p14="http://schemas.microsoft.com/office/powerpoint/2010/main" val="36477532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EF27A9-693D-02D0-A234-15464143F312}"/>
              </a:ext>
            </a:extLst>
          </p:cNvPr>
          <p:cNvSpPr>
            <a:spLocks noGrp="1"/>
          </p:cNvSpPr>
          <p:nvPr>
            <p:ph type="sldNum" sz="quarter" idx="12"/>
          </p:nvPr>
        </p:nvSpPr>
        <p:spPr/>
        <p:txBody>
          <a:bodyPr/>
          <a:lstStyle/>
          <a:p>
            <a:fld id="{9AA8B329-7075-4E8D-B380-2E77929090E4}" type="slidenum">
              <a:rPr lang="en-US" smtClean="0"/>
              <a:t>19</a:t>
            </a:fld>
            <a:endParaRPr lang="en-US" dirty="0"/>
          </a:p>
        </p:txBody>
      </p:sp>
      <p:sp>
        <p:nvSpPr>
          <p:cNvPr id="5" name="TextBox 4">
            <a:extLst>
              <a:ext uri="{FF2B5EF4-FFF2-40B4-BE49-F238E27FC236}">
                <a16:creationId xmlns:a16="http://schemas.microsoft.com/office/drawing/2014/main" id="{FFACCA4C-857E-4800-41E1-436E0B5C11ED}"/>
              </a:ext>
            </a:extLst>
          </p:cNvPr>
          <p:cNvSpPr txBox="1"/>
          <p:nvPr/>
        </p:nvSpPr>
        <p:spPr>
          <a:xfrm>
            <a:off x="3353967" y="0"/>
            <a:ext cx="5484065" cy="461665"/>
          </a:xfrm>
          <a:prstGeom prst="rect">
            <a:avLst/>
          </a:prstGeom>
          <a:noFill/>
        </p:spPr>
        <p:txBody>
          <a:bodyPr wrap="none" rtlCol="0">
            <a:spAutoFit/>
          </a:bodyPr>
          <a:lstStyle/>
          <a:p>
            <a:pPr algn="ctr"/>
            <a:r>
              <a:rPr lang="en-US" sz="2400" b="1" dirty="0"/>
              <a:t>Machine Learning in Chip or Hardware</a:t>
            </a:r>
          </a:p>
        </p:txBody>
      </p:sp>
      <p:pic>
        <p:nvPicPr>
          <p:cNvPr id="6" name="Picture 5" descr="HOT CHIPS: Some HOT Deep Learning Processors - Breakfast Bytes - Cadence  Blogs - Cadence Community">
            <a:extLst>
              <a:ext uri="{FF2B5EF4-FFF2-40B4-BE49-F238E27FC236}">
                <a16:creationId xmlns:a16="http://schemas.microsoft.com/office/drawing/2014/main" id="{6E3AC593-BA88-FF6B-A6B5-BC884508445E}"/>
              </a:ext>
            </a:extLst>
          </p:cNvPr>
          <p:cNvPicPr>
            <a:picLocks noChangeAspect="1"/>
          </p:cNvPicPr>
          <p:nvPr/>
        </p:nvPicPr>
        <p:blipFill>
          <a:blip r:embed="rId2"/>
          <a:stretch>
            <a:fillRect/>
          </a:stretch>
        </p:blipFill>
        <p:spPr>
          <a:xfrm>
            <a:off x="98423" y="915163"/>
            <a:ext cx="5838825" cy="5133975"/>
          </a:xfrm>
          <a:prstGeom prst="rect">
            <a:avLst/>
          </a:prstGeom>
        </p:spPr>
      </p:pic>
      <p:pic>
        <p:nvPicPr>
          <p:cNvPr id="7" name="Picture 6" descr="Why and how to run machine learning algorithms on edge devices">
            <a:extLst>
              <a:ext uri="{FF2B5EF4-FFF2-40B4-BE49-F238E27FC236}">
                <a16:creationId xmlns:a16="http://schemas.microsoft.com/office/drawing/2014/main" id="{8E7975E0-409F-88BD-0A8F-835CD6E4D258}"/>
              </a:ext>
            </a:extLst>
          </p:cNvPr>
          <p:cNvPicPr>
            <a:picLocks noChangeAspect="1"/>
          </p:cNvPicPr>
          <p:nvPr/>
        </p:nvPicPr>
        <p:blipFill>
          <a:blip r:embed="rId3"/>
          <a:stretch>
            <a:fillRect/>
          </a:stretch>
        </p:blipFill>
        <p:spPr>
          <a:xfrm>
            <a:off x="6095999" y="915163"/>
            <a:ext cx="5838824" cy="4967477"/>
          </a:xfrm>
          <a:prstGeom prst="rect">
            <a:avLst/>
          </a:prstGeom>
        </p:spPr>
      </p:pic>
    </p:spTree>
    <p:extLst>
      <p:ext uri="{BB962C8B-B14F-4D97-AF65-F5344CB8AC3E}">
        <p14:creationId xmlns:p14="http://schemas.microsoft.com/office/powerpoint/2010/main" val="2071792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354B1-7B84-1185-A69D-CBB29A83D4B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8660ED-B90F-004E-5CC7-7948C3081F70}"/>
              </a:ext>
            </a:extLst>
          </p:cNvPr>
          <p:cNvSpPr txBox="1"/>
          <p:nvPr/>
        </p:nvSpPr>
        <p:spPr>
          <a:xfrm>
            <a:off x="5475349" y="0"/>
            <a:ext cx="2376613" cy="461665"/>
          </a:xfrm>
          <a:prstGeom prst="rect">
            <a:avLst/>
          </a:prstGeom>
          <a:noFill/>
        </p:spPr>
        <p:txBody>
          <a:bodyPr wrap="none" rtlCol="0">
            <a:spAutoFit/>
          </a:bodyPr>
          <a:lstStyle/>
          <a:p>
            <a:r>
              <a:rPr lang="en-US" sz="2400" b="1" dirty="0"/>
              <a:t>Neural Network</a:t>
            </a:r>
          </a:p>
        </p:txBody>
      </p:sp>
      <p:sp>
        <p:nvSpPr>
          <p:cNvPr id="4" name="Slide Number Placeholder 3">
            <a:extLst>
              <a:ext uri="{FF2B5EF4-FFF2-40B4-BE49-F238E27FC236}">
                <a16:creationId xmlns:a16="http://schemas.microsoft.com/office/drawing/2014/main" id="{CB263BF5-DC1F-DE7A-CA87-08199CF714CE}"/>
              </a:ext>
            </a:extLst>
          </p:cNvPr>
          <p:cNvSpPr>
            <a:spLocks noGrp="1"/>
          </p:cNvSpPr>
          <p:nvPr>
            <p:ph type="sldNum" sz="quarter" idx="12"/>
          </p:nvPr>
        </p:nvSpPr>
        <p:spPr/>
        <p:txBody>
          <a:bodyPr/>
          <a:lstStyle/>
          <a:p>
            <a:fld id="{9AA8B329-7075-4E8D-B380-2E77929090E4}" type="slidenum">
              <a:rPr lang="en-US" smtClean="0"/>
              <a:t>20</a:t>
            </a:fld>
            <a:endParaRPr lang="en-US" dirty="0"/>
          </a:p>
        </p:txBody>
      </p:sp>
      <p:sp>
        <p:nvSpPr>
          <p:cNvPr id="5" name="TextBox 4">
            <a:extLst>
              <a:ext uri="{FF2B5EF4-FFF2-40B4-BE49-F238E27FC236}">
                <a16:creationId xmlns:a16="http://schemas.microsoft.com/office/drawing/2014/main" id="{495DEE85-69D2-2DF5-ABE7-F8DF91202A18}"/>
              </a:ext>
            </a:extLst>
          </p:cNvPr>
          <p:cNvSpPr txBox="1"/>
          <p:nvPr/>
        </p:nvSpPr>
        <p:spPr>
          <a:xfrm>
            <a:off x="486696" y="671417"/>
            <a:ext cx="11218607" cy="1200329"/>
          </a:xfrm>
          <a:prstGeom prst="rect">
            <a:avLst/>
          </a:prstGeom>
          <a:noFill/>
        </p:spPr>
        <p:txBody>
          <a:bodyPr wrap="square">
            <a:spAutoFit/>
          </a:bodyPr>
          <a:lstStyle/>
          <a:p>
            <a:pPr>
              <a:buNone/>
            </a:pPr>
            <a:r>
              <a:rPr lang="en-US" b="1" dirty="0"/>
              <a:t>Neural Network</a:t>
            </a:r>
          </a:p>
          <a:p>
            <a:pPr>
              <a:buNone/>
            </a:pPr>
            <a:r>
              <a:rPr lang="en-US" dirty="0"/>
              <a:t>A </a:t>
            </a:r>
            <a:r>
              <a:rPr lang="en-US" b="1" dirty="0"/>
              <a:t>Neural Network (NN)</a:t>
            </a:r>
            <a:r>
              <a:rPr lang="en-US" dirty="0"/>
              <a:t> is a machine learning model inspired by the way the human brain processes information. It consists of interconnected processing units called neurons that work together to recognize patterns, make predictions, and solve complex problems.</a:t>
            </a:r>
          </a:p>
        </p:txBody>
      </p:sp>
      <p:sp>
        <p:nvSpPr>
          <p:cNvPr id="7" name="TextBox 6">
            <a:extLst>
              <a:ext uri="{FF2B5EF4-FFF2-40B4-BE49-F238E27FC236}">
                <a16:creationId xmlns:a16="http://schemas.microsoft.com/office/drawing/2014/main" id="{940F8E38-DFFA-09B9-AD59-E6B317DC19FA}"/>
              </a:ext>
            </a:extLst>
          </p:cNvPr>
          <p:cNvSpPr txBox="1"/>
          <p:nvPr/>
        </p:nvSpPr>
        <p:spPr>
          <a:xfrm>
            <a:off x="486695" y="2252435"/>
            <a:ext cx="11218607" cy="923330"/>
          </a:xfrm>
          <a:prstGeom prst="rect">
            <a:avLst/>
          </a:prstGeom>
          <a:noFill/>
        </p:spPr>
        <p:txBody>
          <a:bodyPr wrap="square">
            <a:spAutoFit/>
          </a:bodyPr>
          <a:lstStyle/>
          <a:p>
            <a:pPr>
              <a:buNone/>
            </a:pPr>
            <a:r>
              <a:rPr lang="en-US" b="1" dirty="0"/>
              <a:t>Simple Definition</a:t>
            </a:r>
          </a:p>
          <a:p>
            <a:pPr>
              <a:buNone/>
            </a:pPr>
            <a:r>
              <a:rPr lang="en-US" dirty="0"/>
              <a:t>A neural network is a computer model that learns from examples by adjusting connections between artificial neurons to improve its predictions over time.</a:t>
            </a:r>
          </a:p>
        </p:txBody>
      </p:sp>
      <p:graphicFrame>
        <p:nvGraphicFramePr>
          <p:cNvPr id="3" name="Table 2">
            <a:extLst>
              <a:ext uri="{FF2B5EF4-FFF2-40B4-BE49-F238E27FC236}">
                <a16:creationId xmlns:a16="http://schemas.microsoft.com/office/drawing/2014/main" id="{D3E51864-5BB1-9111-1514-1EF75A772DA6}"/>
              </a:ext>
            </a:extLst>
          </p:cNvPr>
          <p:cNvGraphicFramePr>
            <a:graphicFrameLocks noGrp="1"/>
          </p:cNvGraphicFramePr>
          <p:nvPr>
            <p:extLst>
              <p:ext uri="{D42A27DB-BD31-4B8C-83A1-F6EECF244321}">
                <p14:modId xmlns:p14="http://schemas.microsoft.com/office/powerpoint/2010/main" val="4201196865"/>
              </p:ext>
            </p:extLst>
          </p:nvPr>
        </p:nvGraphicFramePr>
        <p:xfrm>
          <a:off x="486696" y="3652383"/>
          <a:ext cx="11105536" cy="2590800"/>
        </p:xfrm>
        <a:graphic>
          <a:graphicData uri="http://schemas.openxmlformats.org/drawingml/2006/table">
            <a:tbl>
              <a:tblPr firstRow="1" bandRow="1">
                <a:tableStyleId>{5C22544A-7EE6-4342-B048-85BDC9FD1C3A}</a:tableStyleId>
              </a:tblPr>
              <a:tblGrid>
                <a:gridCol w="5440066">
                  <a:extLst>
                    <a:ext uri="{9D8B030D-6E8A-4147-A177-3AD203B41FA5}">
                      <a16:colId xmlns:a16="http://schemas.microsoft.com/office/drawing/2014/main" val="592671958"/>
                    </a:ext>
                  </a:extLst>
                </a:gridCol>
                <a:gridCol w="5665470">
                  <a:extLst>
                    <a:ext uri="{9D8B030D-6E8A-4147-A177-3AD203B41FA5}">
                      <a16:colId xmlns:a16="http://schemas.microsoft.com/office/drawing/2014/main" val="2971116489"/>
                    </a:ext>
                  </a:extLst>
                </a:gridCol>
              </a:tblGrid>
              <a:tr h="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Comparing Traditional Machine Learning To Neural Network </a:t>
                      </a:r>
                    </a:p>
                  </a:txBody>
                  <a:tcPr/>
                </a:tc>
                <a:tc hMerge="1">
                  <a:txBody>
                    <a:bodyPr/>
                    <a:lstStyle/>
                    <a:p>
                      <a:endParaRPr lang="en-US" dirty="0"/>
                    </a:p>
                  </a:txBody>
                  <a:tcPr/>
                </a:tc>
                <a:extLst>
                  <a:ext uri="{0D108BD9-81ED-4DB2-BD59-A6C34878D82A}">
                    <a16:rowId xmlns:a16="http://schemas.microsoft.com/office/drawing/2014/main" val="12165756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70C0"/>
                          </a:solidFill>
                        </a:rPr>
                        <a:t>Traditional Machine Learning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0070C0"/>
                          </a:solidFill>
                        </a:rPr>
                        <a:t>Neural Network</a:t>
                      </a:r>
                    </a:p>
                  </a:txBody>
                  <a:tcPr/>
                </a:tc>
                <a:extLst>
                  <a:ext uri="{0D108BD9-81ED-4DB2-BD59-A6C34878D82A}">
                    <a16:rowId xmlns:a16="http://schemas.microsoft.com/office/drawing/2014/main" val="399821012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Often requires manual feature engineering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Learns features automatically</a:t>
                      </a:r>
                    </a:p>
                  </a:txBody>
                  <a:tcPr/>
                </a:tc>
                <a:extLst>
                  <a:ext uri="{0D108BD9-81ED-4DB2-BD59-A6C34878D82A}">
                    <a16:rowId xmlns:a16="http://schemas.microsoft.com/office/drawing/2014/main" val="303935975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Works well with smaller datasets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Usually performs better with larger datasets</a:t>
                      </a:r>
                    </a:p>
                  </a:txBody>
                  <a:tcPr/>
                </a:tc>
                <a:extLst>
                  <a:ext uri="{0D108BD9-81ED-4DB2-BD59-A6C34878D82A}">
                    <a16:rowId xmlns:a16="http://schemas.microsoft.com/office/drawing/2014/main" val="242837445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Faster to train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Slower to train</a:t>
                      </a:r>
                    </a:p>
                  </a:txBody>
                  <a:tcPr/>
                </a:tc>
                <a:extLst>
                  <a:ext uri="{0D108BD9-81ED-4DB2-BD59-A6C34878D82A}">
                    <a16:rowId xmlns:a16="http://schemas.microsoft.com/office/drawing/2014/main" val="38322641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Easier to interpret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Harder to interpret</a:t>
                      </a:r>
                    </a:p>
                  </a:txBody>
                  <a:tcPr/>
                </a:tc>
                <a:extLst>
                  <a:ext uri="{0D108BD9-81ED-4DB2-BD59-A6C34878D82A}">
                    <a16:rowId xmlns:a16="http://schemas.microsoft.com/office/drawing/2014/main" val="38525964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Lower computational cost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Higher computational cost</a:t>
                      </a:r>
                    </a:p>
                  </a:txBody>
                  <a:tcPr/>
                </a:tc>
                <a:extLst>
                  <a:ext uri="{0D108BD9-81ED-4DB2-BD59-A6C34878D82A}">
                    <a16:rowId xmlns:a16="http://schemas.microsoft.com/office/drawing/2014/main" val="1673364226"/>
                  </a:ext>
                </a:extLst>
              </a:tr>
            </a:tbl>
          </a:graphicData>
        </a:graphic>
      </p:graphicFrame>
    </p:spTree>
    <p:extLst>
      <p:ext uri="{BB962C8B-B14F-4D97-AF65-F5344CB8AC3E}">
        <p14:creationId xmlns:p14="http://schemas.microsoft.com/office/powerpoint/2010/main" val="356472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265A80-0D2F-E58A-8F63-8C3CEED491A2}"/>
              </a:ext>
            </a:extLst>
          </p:cNvPr>
          <p:cNvSpPr>
            <a:spLocks noGrp="1"/>
          </p:cNvSpPr>
          <p:nvPr>
            <p:ph type="sldNum" sz="quarter" idx="12"/>
          </p:nvPr>
        </p:nvSpPr>
        <p:spPr/>
        <p:txBody>
          <a:bodyPr/>
          <a:lstStyle/>
          <a:p>
            <a:fld id="{9AA8B329-7075-4E8D-B380-2E77929090E4}" type="slidenum">
              <a:rPr lang="en-US" smtClean="0"/>
              <a:t>21</a:t>
            </a:fld>
            <a:endParaRPr lang="en-US" dirty="0"/>
          </a:p>
        </p:txBody>
      </p:sp>
      <p:sp>
        <p:nvSpPr>
          <p:cNvPr id="3" name="TextBox 2">
            <a:extLst>
              <a:ext uri="{FF2B5EF4-FFF2-40B4-BE49-F238E27FC236}">
                <a16:creationId xmlns:a16="http://schemas.microsoft.com/office/drawing/2014/main" id="{4B92CE1C-0D87-7A7D-13B2-EE80262B26FA}"/>
              </a:ext>
            </a:extLst>
          </p:cNvPr>
          <p:cNvSpPr txBox="1"/>
          <p:nvPr/>
        </p:nvSpPr>
        <p:spPr>
          <a:xfrm>
            <a:off x="5475349" y="0"/>
            <a:ext cx="2376613" cy="461665"/>
          </a:xfrm>
          <a:prstGeom prst="rect">
            <a:avLst/>
          </a:prstGeom>
          <a:noFill/>
        </p:spPr>
        <p:txBody>
          <a:bodyPr wrap="none" rtlCol="0">
            <a:spAutoFit/>
          </a:bodyPr>
          <a:lstStyle/>
          <a:p>
            <a:r>
              <a:rPr lang="en-US" sz="2400" b="1" dirty="0"/>
              <a:t>Neural Network</a:t>
            </a:r>
          </a:p>
        </p:txBody>
      </p:sp>
      <p:sp>
        <p:nvSpPr>
          <p:cNvPr id="5" name="TextBox 4">
            <a:extLst>
              <a:ext uri="{FF2B5EF4-FFF2-40B4-BE49-F238E27FC236}">
                <a16:creationId xmlns:a16="http://schemas.microsoft.com/office/drawing/2014/main" id="{DB0661C2-DBDB-D5EA-4CA6-6D7BF56C8DCB}"/>
              </a:ext>
            </a:extLst>
          </p:cNvPr>
          <p:cNvSpPr txBox="1"/>
          <p:nvPr/>
        </p:nvSpPr>
        <p:spPr>
          <a:xfrm>
            <a:off x="3048000" y="3222211"/>
            <a:ext cx="6096000" cy="369332"/>
          </a:xfrm>
          <a:prstGeom prst="rect">
            <a:avLst/>
          </a:prstGeom>
          <a:noFill/>
        </p:spPr>
        <p:txBody>
          <a:bodyPr wrap="square">
            <a:spAutoFit/>
          </a:bodyPr>
          <a:lstStyle/>
          <a:p>
            <a:endParaRPr lang="en-US" dirty="0"/>
          </a:p>
        </p:txBody>
      </p:sp>
      <p:pic>
        <p:nvPicPr>
          <p:cNvPr id="9" name="Picture 8">
            <a:extLst>
              <a:ext uri="{FF2B5EF4-FFF2-40B4-BE49-F238E27FC236}">
                <a16:creationId xmlns:a16="http://schemas.microsoft.com/office/drawing/2014/main" id="{82280B5A-73C0-018E-0BA7-6AA7265BBAA7}"/>
              </a:ext>
            </a:extLst>
          </p:cNvPr>
          <p:cNvPicPr>
            <a:picLocks noChangeAspect="1"/>
          </p:cNvPicPr>
          <p:nvPr/>
        </p:nvPicPr>
        <p:blipFill>
          <a:blip r:embed="rId2"/>
          <a:stretch>
            <a:fillRect/>
          </a:stretch>
        </p:blipFill>
        <p:spPr>
          <a:xfrm>
            <a:off x="1236913" y="1046480"/>
            <a:ext cx="9847647" cy="4828523"/>
          </a:xfrm>
          <a:prstGeom prst="rect">
            <a:avLst/>
          </a:prstGeom>
        </p:spPr>
      </p:pic>
      <p:sp>
        <p:nvSpPr>
          <p:cNvPr id="11" name="TextBox 10">
            <a:extLst>
              <a:ext uri="{FF2B5EF4-FFF2-40B4-BE49-F238E27FC236}">
                <a16:creationId xmlns:a16="http://schemas.microsoft.com/office/drawing/2014/main" id="{7B0992FA-4F9C-D425-69CB-08E2010B9BD3}"/>
              </a:ext>
            </a:extLst>
          </p:cNvPr>
          <p:cNvSpPr txBox="1"/>
          <p:nvPr/>
        </p:nvSpPr>
        <p:spPr>
          <a:xfrm>
            <a:off x="4473677" y="436475"/>
            <a:ext cx="6096000" cy="369332"/>
          </a:xfrm>
          <a:prstGeom prst="rect">
            <a:avLst/>
          </a:prstGeom>
          <a:noFill/>
        </p:spPr>
        <p:txBody>
          <a:bodyPr wrap="square">
            <a:spAutoFit/>
          </a:bodyPr>
          <a:lstStyle/>
          <a:p>
            <a:r>
              <a:rPr lang="en-US" b="1" i="0" dirty="0">
                <a:effectLst/>
                <a:latin typeface="Aptos (Body)"/>
              </a:rPr>
              <a:t>Forward propagation in a Neural Network</a:t>
            </a:r>
            <a:endParaRPr lang="en-US" b="1" dirty="0">
              <a:latin typeface="Aptos (Body)"/>
            </a:endParaRPr>
          </a:p>
        </p:txBody>
      </p:sp>
    </p:spTree>
    <p:extLst>
      <p:ext uri="{BB962C8B-B14F-4D97-AF65-F5344CB8AC3E}">
        <p14:creationId xmlns:p14="http://schemas.microsoft.com/office/powerpoint/2010/main" val="2770945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373</TotalTime>
  <Words>1744</Words>
  <Application>Microsoft Office PowerPoint</Application>
  <PresentationFormat>Widescreen</PresentationFormat>
  <Paragraphs>248</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(Body)</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Olis Bahari</dc:creator>
  <cp:lastModifiedBy>Lenovo</cp:lastModifiedBy>
  <cp:revision>148</cp:revision>
  <dcterms:created xsi:type="dcterms:W3CDTF">2026-06-19T13:30:33Z</dcterms:created>
  <dcterms:modified xsi:type="dcterms:W3CDTF">2026-06-28T20:03:44Z</dcterms:modified>
</cp:coreProperties>
</file>