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61" r:id="rId4"/>
    <p:sldId id="260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0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409A4-1567-438E-B1E8-B4ECC521F3E4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671F8-6E3C-45AD-9C00-D27C152A03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738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2E8B-A15D-9BB6-4F20-F9BC9EC93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0148B-8275-7D7E-88F1-910DFA17E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C738A-02DB-E5DD-FC6F-D7528D6E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29859-4AA9-49C5-B1E6-0D13047DC525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65D57-3F5E-17C4-59BC-795AF815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94B7C-B581-C810-78A1-21D163EE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70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4612-6B4F-5350-F6AF-A290A5D2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6B4A-D491-B7FE-8DC4-3CC6F7FE8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6749C-89E0-E899-9B25-4CDC8902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6CBD1-D753-482D-8620-655FECC95D1B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06C02-2AF9-3B05-0B66-E5A03DA17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0AA4B-845B-9F0E-C8A7-2E5260A8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BE48-2682-BE83-866F-AF3F42D97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A5677-48BA-1855-0FD0-AF1082EB3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84244-6D82-8DF7-8DC6-E4E59302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39B6-0619-4B62-814A-EFC07F56E932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5B144-1A7D-5147-E609-7E9C6074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933D3-40A9-B761-B47F-2AC5048D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83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464C-D550-590B-58A6-A4400D0B5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DB123-6570-1DBF-3127-AECAC405C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2644F-14D6-583E-67E2-F537433C6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834B2-892C-8066-0179-401811723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7C4E-BFEC-4BB1-BC5D-37F1E3AAD8B7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683F9-3CB6-698D-A14E-43F8BCC4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A5351-8ECB-75E3-2396-59A3575E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3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14C9-AD71-72CA-021A-88416841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3D002-01EF-A0E0-1031-EEA765631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2944E-DBE9-052E-5490-57F3D77D1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DAD0F-DA5D-380F-9D65-3786623BB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DF801-A620-0F9A-B159-2AD23DE271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73D41-25AA-E570-54F1-8DDAF237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C5ABA-13A5-4662-8C9B-266A79B7D543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45956-2902-5EB9-872E-B9FC39FA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B1158-CC80-89F1-1EEF-16A97DA4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79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973F-498C-76D3-2F3E-AE34E9A0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CF9F8-76B9-A24D-20EE-12A2545A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ADCC3-AA91-4EEE-8399-A411B115C787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0A977-A1B3-0E2B-EFCA-18BB6DCA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E63D0-7BF4-3374-B053-2F7F4CA0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20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781C9D-00FA-EE72-49D0-027DD4A6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D65D-4940-4D05-AF93-D6EBF299BDDF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6C2C3-806B-D091-60F4-E1A8DB6C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954B0-A69D-A8BD-03C5-B51AE55F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2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AD738-8D1E-32BA-41DD-2F123541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1B6C3-E361-6F9E-CF05-32F907B3F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B3AB7-86EB-EB7C-E61F-AB9415FE2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02E68-3283-E4B0-E6CD-4B2E0CBD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2632-8A51-43AD-BC35-59C62E617728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4CEB2-EAB8-A24A-F970-C08C2F8D4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DE6BA-930E-51E4-8BC6-3A393DA9E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7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9ECF-6651-7833-C6BD-F5217146A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D38975-E0E9-B05A-FA6A-68C627DB3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7EFC4-1154-6C28-E770-00499E3B6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19549-9E92-8DBC-6261-705C2445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79444-5969-4B89-9F1B-3C81F517DDD3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12C89-1D71-269A-8344-6C74FD26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6CBA-D227-E631-ACE6-3A8E12CCF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0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8930-06EB-3949-80A7-8F4137BB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7445C-D028-4E60-1838-3977B6350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69E0A-E006-E21F-A602-3F7C9797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6444-7629-478B-A7CF-E065D53AA981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F431A-7B0B-D9D9-A3AA-C1B9577FC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A41D-F531-A12C-F4F0-C0A0C5A7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9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1FFE9-AAC7-CC65-E99F-6806FDE0F5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9ABBF-594E-6AC2-192C-9A283F2A0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C650C-E5DB-5F80-2E12-F355AC1F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3ED59-8697-42FF-AB71-2DF7389B8E92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14AC5-7FDA-B875-5B78-311FC4FE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647AD-36F2-3011-7418-DE6DF57D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295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9FBE9-DD25-9FC2-762D-4075B19D0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595C-F839-02F6-E6E7-95E06E966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F1786-9FA4-CC92-DDB2-F7F837ACF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09927-61E1-43A7-BE78-5C6406970317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82ACB-24E2-FDC1-11F8-325F4FBB73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06A4A-FCD3-06DC-96EC-18C16D2E3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76C47-409B-410E-A5A1-E44FDEDE23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30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309418B-F70B-2B7A-670E-7C1D0B85FF27}"/>
              </a:ext>
            </a:extLst>
          </p:cNvPr>
          <p:cNvCxnSpPr/>
          <p:nvPr/>
        </p:nvCxnSpPr>
        <p:spPr>
          <a:xfrm flipH="1">
            <a:off x="1472339" y="4164235"/>
            <a:ext cx="21491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95A73F9-953F-E31F-E7AE-9BEAF6FC17E8}"/>
              </a:ext>
            </a:extLst>
          </p:cNvPr>
          <p:cNvSpPr/>
          <p:nvPr/>
        </p:nvSpPr>
        <p:spPr>
          <a:xfrm>
            <a:off x="3621504" y="2212083"/>
            <a:ext cx="1865272" cy="413349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96E23-6AFC-0C22-88A5-C679CEA0D151}"/>
              </a:ext>
            </a:extLst>
          </p:cNvPr>
          <p:cNvSpPr txBox="1"/>
          <p:nvPr/>
        </p:nvSpPr>
        <p:spPr>
          <a:xfrm>
            <a:off x="393030" y="1472526"/>
            <a:ext cx="11405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AlphaStar is an AI system developed by DeepMind to play the real-time strategy game StarCraft II at a superhuman level. Although it is extremely powerful within that game, it has many important limitations.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B7D5B2-2B5D-018A-513E-0BC853E70428}"/>
              </a:ext>
            </a:extLst>
          </p:cNvPr>
          <p:cNvSpPr txBox="1"/>
          <p:nvPr/>
        </p:nvSpPr>
        <p:spPr>
          <a:xfrm>
            <a:off x="10996863" y="-17296"/>
            <a:ext cx="1175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Version 2.0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6BF3A5-A084-5F02-D180-67D0C22CC584}"/>
              </a:ext>
            </a:extLst>
          </p:cNvPr>
          <p:cNvSpPr txBox="1"/>
          <p:nvPr/>
        </p:nvSpPr>
        <p:spPr>
          <a:xfrm>
            <a:off x="3158613" y="-17296"/>
            <a:ext cx="5874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ITAI 1370 Artificial Intelligence History</a:t>
            </a:r>
          </a:p>
          <a:p>
            <a:pPr algn="ctr"/>
            <a:r>
              <a:rPr lang="en-US" sz="2400" b="1" dirty="0"/>
              <a:t>A03 What AlphaStar Cannot Do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CD1EFA-918C-889E-3D76-FA615FAE61BB}"/>
              </a:ext>
            </a:extLst>
          </p:cNvPr>
          <p:cNvGrpSpPr/>
          <p:nvPr/>
        </p:nvGrpSpPr>
        <p:grpSpPr>
          <a:xfrm>
            <a:off x="0" y="0"/>
            <a:ext cx="1811852" cy="1478009"/>
            <a:chOff x="89307" y="-17296"/>
            <a:chExt cx="1811852" cy="147800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7CABBE7-C7AF-EF47-FE0C-1EE8FCC83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07" y="-17296"/>
              <a:ext cx="1811852" cy="11086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14E73DE-A0C6-3E96-A5B9-09C6C7F6D58B}"/>
                </a:ext>
              </a:extLst>
            </p:cNvPr>
            <p:cNvSpPr txBox="1"/>
            <p:nvPr/>
          </p:nvSpPr>
          <p:spPr>
            <a:xfrm>
              <a:off x="89307" y="1091381"/>
              <a:ext cx="18118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Team Tiger</a:t>
              </a: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747730F-5EB8-5428-F4EC-3CCF5AD4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3A6C869-D20C-024B-E1CF-A156CCB6FA41}"/>
              </a:ext>
            </a:extLst>
          </p:cNvPr>
          <p:cNvSpPr txBox="1">
            <a:spLocks/>
          </p:cNvSpPr>
          <p:nvPr/>
        </p:nvSpPr>
        <p:spPr>
          <a:xfrm>
            <a:off x="8253663" y="8056289"/>
            <a:ext cx="2743200" cy="348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E76C47-409B-410E-A5A1-E44FDEDE2338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E167C2-BC79-98F9-B364-0AD49AEF4661}"/>
              </a:ext>
            </a:extLst>
          </p:cNvPr>
          <p:cNvGrpSpPr/>
          <p:nvPr/>
        </p:nvGrpSpPr>
        <p:grpSpPr>
          <a:xfrm>
            <a:off x="5486778" y="4364431"/>
            <a:ext cx="6312190" cy="343096"/>
            <a:chOff x="4860161" y="3534861"/>
            <a:chExt cx="5967496" cy="35217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35F2C55-528A-2672-EFA5-B87B54EB23E0}"/>
                </a:ext>
              </a:extLst>
            </p:cNvPr>
            <p:cNvSpPr/>
            <p:nvPr/>
          </p:nvSpPr>
          <p:spPr>
            <a:xfrm>
              <a:off x="5760141" y="3534861"/>
              <a:ext cx="5067516" cy="35217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5. It cannot learn like a human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793451C-C9D9-A280-5564-790C841A49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0161" y="3699018"/>
              <a:ext cx="899980" cy="23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CCC5A-077E-7706-306F-393B48EE2F2D}"/>
              </a:ext>
            </a:extLst>
          </p:cNvPr>
          <p:cNvGrpSpPr/>
          <p:nvPr/>
        </p:nvGrpSpPr>
        <p:grpSpPr>
          <a:xfrm>
            <a:off x="5486777" y="5448630"/>
            <a:ext cx="6312190" cy="385055"/>
            <a:chOff x="4860160" y="5066290"/>
            <a:chExt cx="5967497" cy="46125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1BAC417-B810-0F49-72D0-5EDD0DB886DA}"/>
                </a:ext>
              </a:extLst>
            </p:cNvPr>
            <p:cNvSpPr/>
            <p:nvPr/>
          </p:nvSpPr>
          <p:spPr>
            <a:xfrm>
              <a:off x="5760140" y="5066290"/>
              <a:ext cx="5067517" cy="46125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7. It cannot adapt instantly to major rule changes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A21B2D2-2EDB-91E9-57C3-BC432E5CA7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0160" y="5321662"/>
              <a:ext cx="89997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DDAC1D-4802-6F82-25BA-4653FF6ED9E3}"/>
              </a:ext>
            </a:extLst>
          </p:cNvPr>
          <p:cNvGrpSpPr/>
          <p:nvPr/>
        </p:nvGrpSpPr>
        <p:grpSpPr>
          <a:xfrm>
            <a:off x="5486777" y="4900055"/>
            <a:ext cx="6312191" cy="348377"/>
            <a:chOff x="4860160" y="4294101"/>
            <a:chExt cx="5967498" cy="36512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BA06833-55E6-5868-4E17-92CFDF30813B}"/>
                </a:ext>
              </a:extLst>
            </p:cNvPr>
            <p:cNvSpPr/>
            <p:nvPr/>
          </p:nvSpPr>
          <p:spPr>
            <a:xfrm>
              <a:off x="5760142" y="4294101"/>
              <a:ext cx="5067516" cy="3651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6. It cannot reason with common sense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F2366F2-3EED-6109-2BAD-449DAACA4B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0160" y="4455721"/>
              <a:ext cx="899981" cy="172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1FFECD-B5DA-E4A0-CDF6-1B67EBDA14FE}"/>
              </a:ext>
            </a:extLst>
          </p:cNvPr>
          <p:cNvGrpSpPr/>
          <p:nvPr/>
        </p:nvGrpSpPr>
        <p:grpSpPr>
          <a:xfrm>
            <a:off x="5486778" y="2196037"/>
            <a:ext cx="6312190" cy="370767"/>
            <a:chOff x="4860160" y="472004"/>
            <a:chExt cx="5967497" cy="35217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D0FE98C-8456-B5DF-883A-91A29980D7DF}"/>
                </a:ext>
              </a:extLst>
            </p:cNvPr>
            <p:cNvSpPr/>
            <p:nvPr/>
          </p:nvSpPr>
          <p:spPr>
            <a:xfrm>
              <a:off x="5760142" y="472004"/>
              <a:ext cx="5067515" cy="35217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1. It cannot perform general intelligence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859A76A-5A7E-CEE6-2E2D-9E992ECC1D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0160" y="645399"/>
              <a:ext cx="899981" cy="173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E8E17F-C83E-C381-0D81-17A9F1856E1D}"/>
              </a:ext>
            </a:extLst>
          </p:cNvPr>
          <p:cNvGrpSpPr/>
          <p:nvPr/>
        </p:nvGrpSpPr>
        <p:grpSpPr>
          <a:xfrm>
            <a:off x="5486777" y="2731662"/>
            <a:ext cx="6312190" cy="348375"/>
            <a:chOff x="4860160" y="1231244"/>
            <a:chExt cx="5967497" cy="36512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F32EBB8-469B-18FE-0F68-6AE0A1410C5A}"/>
                </a:ext>
              </a:extLst>
            </p:cNvPr>
            <p:cNvSpPr/>
            <p:nvPr/>
          </p:nvSpPr>
          <p:spPr>
            <a:xfrm>
              <a:off x="5760142" y="1231244"/>
              <a:ext cx="5067515" cy="36512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2. It cannot instantly play other games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9F1878-D9E3-8088-BB98-71F03DD88C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0160" y="1423587"/>
              <a:ext cx="899981" cy="75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FB5C88-0566-899C-4025-7B0F0962FFBA}"/>
              </a:ext>
            </a:extLst>
          </p:cNvPr>
          <p:cNvGrpSpPr/>
          <p:nvPr/>
        </p:nvGrpSpPr>
        <p:grpSpPr>
          <a:xfrm>
            <a:off x="5486777" y="3280232"/>
            <a:ext cx="6312190" cy="354999"/>
            <a:chOff x="4860160" y="2003431"/>
            <a:chExt cx="5967497" cy="352176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5B8F0BE-52BB-71DE-FDC0-9533EDF8EDCF}"/>
                </a:ext>
              </a:extLst>
            </p:cNvPr>
            <p:cNvSpPr/>
            <p:nvPr/>
          </p:nvSpPr>
          <p:spPr>
            <a:xfrm>
              <a:off x="5760142" y="2003431"/>
              <a:ext cx="5067515" cy="35217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3. It cannot easily transfer its knowledge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610B979-6870-1BE7-6607-BA8BB1CC97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0160" y="2177731"/>
              <a:ext cx="899981" cy="56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52B16CB-41E3-0169-0218-63C9BF8D465E}"/>
              </a:ext>
            </a:extLst>
          </p:cNvPr>
          <p:cNvGrpSpPr/>
          <p:nvPr/>
        </p:nvGrpSpPr>
        <p:grpSpPr>
          <a:xfrm>
            <a:off x="5486777" y="3815857"/>
            <a:ext cx="6312190" cy="348378"/>
            <a:chOff x="4860160" y="2762671"/>
            <a:chExt cx="5967497" cy="365126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36541F6-C444-6E26-B373-9A6567392351}"/>
                </a:ext>
              </a:extLst>
            </p:cNvPr>
            <p:cNvSpPr/>
            <p:nvPr/>
          </p:nvSpPr>
          <p:spPr>
            <a:xfrm>
              <a:off x="5760141" y="2762671"/>
              <a:ext cx="5067516" cy="3651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4. It cannot explain its decisions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CF99E72-1F81-ABD4-7961-1E1B6C8FAF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0160" y="2931909"/>
              <a:ext cx="899981" cy="657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79AF32B-5DC9-16E2-B071-9B2F9E9D0751}"/>
              </a:ext>
            </a:extLst>
          </p:cNvPr>
          <p:cNvGrpSpPr/>
          <p:nvPr/>
        </p:nvGrpSpPr>
        <p:grpSpPr>
          <a:xfrm>
            <a:off x="5486777" y="5997199"/>
            <a:ext cx="6312190" cy="348377"/>
            <a:chOff x="4860160" y="5838482"/>
            <a:chExt cx="5967497" cy="365125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C9AAD4A-88D4-6A05-29CA-10E7C6F66B04}"/>
                </a:ext>
              </a:extLst>
            </p:cNvPr>
            <p:cNvSpPr/>
            <p:nvPr/>
          </p:nvSpPr>
          <p:spPr>
            <a:xfrm>
              <a:off x="5760140" y="5838482"/>
              <a:ext cx="5067517" cy="3651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8. It cannot operate in the real world by itself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89D0D09-8215-B8A3-0E02-9ECF5C3C2A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0160" y="5995344"/>
              <a:ext cx="8999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C02FC89-BE16-51E5-195E-445C644F2B2E}"/>
              </a:ext>
            </a:extLst>
          </p:cNvPr>
          <p:cNvSpPr txBox="1"/>
          <p:nvPr/>
        </p:nvSpPr>
        <p:spPr>
          <a:xfrm>
            <a:off x="3678580" y="3454516"/>
            <a:ext cx="17511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What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AlphaStar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Cannot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Do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47CC37C-BE03-CDFF-0D0A-69BB18EDD640}"/>
              </a:ext>
            </a:extLst>
          </p:cNvPr>
          <p:cNvSpPr/>
          <p:nvPr/>
        </p:nvSpPr>
        <p:spPr>
          <a:xfrm>
            <a:off x="114590" y="3342084"/>
            <a:ext cx="1521940" cy="182440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73CB84-8C4F-3241-0A90-A652210BA1A5}"/>
              </a:ext>
            </a:extLst>
          </p:cNvPr>
          <p:cNvSpPr txBox="1"/>
          <p:nvPr/>
        </p:nvSpPr>
        <p:spPr>
          <a:xfrm>
            <a:off x="0" y="3454516"/>
            <a:ext cx="17511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Alpha</a:t>
            </a:r>
            <a:r>
              <a:rPr lang="en-US" sz="2400" b="1" dirty="0"/>
              <a:t>Star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AI</a:t>
            </a:r>
          </a:p>
          <a:p>
            <a:pPr algn="ctr"/>
            <a:r>
              <a:rPr lang="en-US" sz="2400" b="1" dirty="0"/>
              <a:t> by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DeepMind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F6E56A-135C-6B48-873C-4C751E3B355F}"/>
              </a:ext>
            </a:extLst>
          </p:cNvPr>
          <p:cNvSpPr/>
          <p:nvPr/>
        </p:nvSpPr>
        <p:spPr>
          <a:xfrm>
            <a:off x="1865711" y="3342084"/>
            <a:ext cx="1521940" cy="18244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802C0C-35CA-ABAD-E3E9-613C42A4B677}"/>
              </a:ext>
            </a:extLst>
          </p:cNvPr>
          <p:cNvSpPr txBox="1"/>
          <p:nvPr/>
        </p:nvSpPr>
        <p:spPr>
          <a:xfrm>
            <a:off x="1751121" y="3823848"/>
            <a:ext cx="17511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Star</a:t>
            </a:r>
            <a:r>
              <a:rPr lang="en-US" sz="2400" b="1" dirty="0"/>
              <a:t>Craft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2790037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85D89D-5572-2069-FC62-7E9846A0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3031" y="3900960"/>
            <a:ext cx="2743200" cy="365125"/>
          </a:xfrm>
        </p:spPr>
        <p:txBody>
          <a:bodyPr/>
          <a:lstStyle/>
          <a:p>
            <a:fld id="{44E76C47-409B-410E-A5A1-E44FDEDE2338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CA0CA-CE3C-75F2-F823-49CD5E3015E5}"/>
              </a:ext>
            </a:extLst>
          </p:cNvPr>
          <p:cNvSpPr txBox="1"/>
          <p:nvPr/>
        </p:nvSpPr>
        <p:spPr>
          <a:xfrm>
            <a:off x="393031" y="398750"/>
            <a:ext cx="114059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AlphaStar Cannot Do: Limitations of Narrow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4B9F4-BB44-5086-F381-5F9C7BC10568}"/>
              </a:ext>
            </a:extLst>
          </p:cNvPr>
          <p:cNvSpPr txBox="1"/>
          <p:nvPr/>
        </p:nvSpPr>
        <p:spPr>
          <a:xfrm>
            <a:off x="393031" y="918749"/>
            <a:ext cx="114059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It cannot perform general intelligence</a:t>
            </a:r>
          </a:p>
          <a:p>
            <a:pPr algn="just"/>
            <a:r>
              <a:rPr lang="en-US" dirty="0"/>
              <a:t>AlphaStar is designed for one specific task: playing StarCraft II. It cannot:</a:t>
            </a:r>
          </a:p>
          <a:p>
            <a:pPr algn="just"/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Drive cars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Carry on natural conversations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Write essays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Solve mathematical problems outside its training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and Cook or perform everyday human tasks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is an example of </a:t>
            </a:r>
            <a:r>
              <a:rPr lang="en-US" b="1" dirty="0"/>
              <a:t>Narrow AI</a:t>
            </a:r>
            <a:r>
              <a:rPr lang="en-US" dirty="0"/>
              <a:t>, not Artificial General Intelligence (AGI).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C564B-82FD-6694-E11D-263DD8C9EABA}"/>
              </a:ext>
            </a:extLst>
          </p:cNvPr>
          <p:cNvSpPr txBox="1"/>
          <p:nvPr/>
        </p:nvSpPr>
        <p:spPr>
          <a:xfrm>
            <a:off x="393031" y="4385975"/>
            <a:ext cx="114059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It cannot instantly play other games</a:t>
            </a:r>
          </a:p>
          <a:p>
            <a:pPr algn="just"/>
            <a:r>
              <a:rPr lang="en-US" dirty="0"/>
              <a:t>Even though AlphaStar mastered StarCraft II, it cannot automatically play: 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Chess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Poker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and Minecraft.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Each new game requires substantial retraining. </a:t>
            </a:r>
          </a:p>
        </p:txBody>
      </p:sp>
    </p:spTree>
    <p:extLst>
      <p:ext uri="{BB962C8B-B14F-4D97-AF65-F5344CB8AC3E}">
        <p14:creationId xmlns:p14="http://schemas.microsoft.com/office/powerpoint/2010/main" val="56284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315CCC-C63F-73A8-E336-C6904BE3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2E68A2-0EA5-A65C-5228-FAA1D0E52829}"/>
              </a:ext>
            </a:extLst>
          </p:cNvPr>
          <p:cNvSpPr txBox="1"/>
          <p:nvPr/>
        </p:nvSpPr>
        <p:spPr>
          <a:xfrm>
            <a:off x="393032" y="136525"/>
            <a:ext cx="114059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3. It cannot easily transfer its knowledge</a:t>
            </a:r>
          </a:p>
          <a:p>
            <a:pPr algn="just"/>
            <a:r>
              <a:rPr lang="en-US" dirty="0"/>
              <a:t>The strategies AlphaStar learned in StarCraft II do not automatically apply to: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Business planning </a:t>
            </a:r>
          </a:p>
          <a:p>
            <a:pPr algn="just"/>
            <a:r>
              <a:rPr lang="en-US" dirty="0"/>
              <a:t>Military operations</a:t>
            </a:r>
          </a:p>
          <a:p>
            <a:pPr algn="just"/>
            <a:r>
              <a:rPr lang="en-US" dirty="0"/>
              <a:t>Robotics</a:t>
            </a:r>
          </a:p>
          <a:p>
            <a:pPr algn="just"/>
            <a:r>
              <a:rPr lang="en-US" dirty="0"/>
              <a:t>and Medical diagnosis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Humans can often transfer knowledge between different domains; AlphaStar cannot.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1CA9B-17D0-70CD-BEC4-6B1CDFCD64A2}"/>
              </a:ext>
            </a:extLst>
          </p:cNvPr>
          <p:cNvSpPr txBox="1"/>
          <p:nvPr/>
        </p:nvSpPr>
        <p:spPr>
          <a:xfrm>
            <a:off x="393031" y="3186902"/>
            <a:ext cx="114059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4. It cannot explain its decisions</a:t>
            </a:r>
          </a:p>
          <a:p>
            <a:pPr algn="just"/>
            <a:r>
              <a:rPr lang="en-US" dirty="0"/>
              <a:t>AlphaStar may make excellent strategic decisions, but it generally cannot explain: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Why it chose a particular attack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Why it expanded its base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Why it selected one strategy over another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lack of interpretability is common in deep neural networks.</a:t>
            </a:r>
          </a:p>
        </p:txBody>
      </p:sp>
    </p:spTree>
    <p:extLst>
      <p:ext uri="{BB962C8B-B14F-4D97-AF65-F5344CB8AC3E}">
        <p14:creationId xmlns:p14="http://schemas.microsoft.com/office/powerpoint/2010/main" val="165500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A8C6F-5E5C-B3A7-BFA4-1B958995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F4E54-2A5E-6479-3229-663D931E6954}"/>
              </a:ext>
            </a:extLst>
          </p:cNvPr>
          <p:cNvSpPr txBox="1"/>
          <p:nvPr/>
        </p:nvSpPr>
        <p:spPr>
          <a:xfrm>
            <a:off x="393033" y="300995"/>
            <a:ext cx="114059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It cannot learn like a human</a:t>
            </a:r>
          </a:p>
          <a:p>
            <a:r>
              <a:rPr lang="en-US" dirty="0"/>
              <a:t>Humans can learn a new game after reading the rules or watching a few matches.</a:t>
            </a:r>
          </a:p>
          <a:p>
            <a:r>
              <a:rPr lang="en-US" dirty="0"/>
              <a:t>AlphaStar required: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Hundreds of thousands of human replays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Massive computational resources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Extensive reinforcement learning through self-play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is far less data-efficient than humans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66A1E-D522-F1AB-70CF-741A03A1BF16}"/>
              </a:ext>
            </a:extLst>
          </p:cNvPr>
          <p:cNvSpPr txBox="1"/>
          <p:nvPr/>
        </p:nvSpPr>
        <p:spPr>
          <a:xfrm>
            <a:off x="393033" y="2955061"/>
            <a:ext cx="114420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It cannot reason with common sense</a:t>
            </a:r>
          </a:p>
          <a:p>
            <a:r>
              <a:rPr lang="en-US" dirty="0"/>
              <a:t>AlphaStar has no understanding of:</a:t>
            </a:r>
          </a:p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Emotions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Social situations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Everyday objects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 culture </a:t>
            </a:r>
          </a:p>
          <a:p>
            <a:endParaRPr lang="en-US" dirty="0"/>
          </a:p>
          <a:p>
            <a:r>
              <a:rPr lang="en-US" dirty="0"/>
              <a:t>It only understands the game environment in which it was trained.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AA056F-973F-742E-60D1-7E1F5E48E36B}"/>
              </a:ext>
            </a:extLst>
          </p:cNvPr>
          <p:cNvSpPr txBox="1"/>
          <p:nvPr/>
        </p:nvSpPr>
        <p:spPr>
          <a:xfrm>
            <a:off x="356935" y="5615582"/>
            <a:ext cx="11442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7. It cannot adapt instantly to major rule changes</a:t>
            </a:r>
          </a:p>
          <a:p>
            <a:pPr algn="just"/>
            <a:r>
              <a:rPr lang="en-US" dirty="0"/>
              <a:t>If StarCraft II's rules changed significantly, AlphaStar would likely need to be retrained rather than immediately adapting the way an experienced human player could.</a:t>
            </a:r>
          </a:p>
        </p:txBody>
      </p:sp>
    </p:spTree>
    <p:extLst>
      <p:ext uri="{BB962C8B-B14F-4D97-AF65-F5344CB8AC3E}">
        <p14:creationId xmlns:p14="http://schemas.microsoft.com/office/powerpoint/2010/main" val="918055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59D54F-C8A1-4C54-98FF-7355D9A5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44176-4A31-7C12-0D19-B7DFEA43E966}"/>
              </a:ext>
            </a:extLst>
          </p:cNvPr>
          <p:cNvSpPr txBox="1"/>
          <p:nvPr/>
        </p:nvSpPr>
        <p:spPr>
          <a:xfrm>
            <a:off x="374984" y="136525"/>
            <a:ext cx="114420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8. It cannot operate in the real world by itself</a:t>
            </a:r>
          </a:p>
          <a:p>
            <a:pPr algn="just"/>
            <a:r>
              <a:rPr lang="en-US" dirty="0"/>
              <a:t>AlphaStar has: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 ability to perceive the physical world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 hearing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 robotic body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 interaction with real-world objects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exists only within the StarCraft II environment.</a:t>
            </a:r>
          </a:p>
        </p:txBody>
      </p:sp>
    </p:spTree>
    <p:extLst>
      <p:ext uri="{BB962C8B-B14F-4D97-AF65-F5344CB8AC3E}">
        <p14:creationId xmlns:p14="http://schemas.microsoft.com/office/powerpoint/2010/main" val="183134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83A4A7-DA47-DC6F-EDE7-12B419A4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76C47-409B-410E-A5A1-E44FDEDE2338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D77439-D1CA-0AA0-BA90-A165A86EF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620541"/>
              </p:ext>
            </p:extLst>
          </p:nvPr>
        </p:nvGraphicFramePr>
        <p:xfrm>
          <a:off x="374984" y="1841252"/>
          <a:ext cx="11109674" cy="3664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066">
                  <a:extLst>
                    <a:ext uri="{9D8B030D-6E8A-4147-A177-3AD203B41FA5}">
                      <a16:colId xmlns:a16="http://schemas.microsoft.com/office/drawing/2014/main" val="592671958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971116489"/>
                    </a:ext>
                  </a:extLst>
                </a:gridCol>
                <a:gridCol w="5552768">
                  <a:extLst>
                    <a:ext uri="{9D8B030D-6E8A-4147-A177-3AD203B41FA5}">
                      <a16:colId xmlns:a16="http://schemas.microsoft.com/office/drawing/2014/main" val="4079309595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Capability</a:t>
                      </a:r>
                      <a:endParaRPr lang="en-US" sz="1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Can AlphaStar Do It?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575661"/>
                  </a:ext>
                </a:extLst>
              </a:tr>
              <a:tr h="366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Play StarCraft II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210129"/>
                  </a:ext>
                </a:extLst>
              </a:tr>
              <a:tr h="366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Beat professional StarCraft II players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359751"/>
                  </a:ext>
                </a:extLst>
              </a:tr>
              <a:tr h="366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Play any game without retraining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374458"/>
                  </a:ext>
                </a:extLst>
              </a:tr>
              <a:tr h="366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Drive a car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264171"/>
                  </a:ext>
                </a:extLst>
              </a:tr>
              <a:tr h="366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Hold conversations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596465"/>
                  </a:ext>
                </a:extLst>
              </a:tr>
              <a:tr h="366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Explain its reasoning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364226"/>
                  </a:ext>
                </a:extLst>
              </a:tr>
              <a:tr h="366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Learn like a human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282395"/>
                  </a:ext>
                </a:extLst>
              </a:tr>
              <a:tr h="366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 common sense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691139"/>
                  </a:ext>
                </a:extLst>
              </a:tr>
              <a:tr h="366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Perform everyday tasks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5025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1375198-B79D-F9FF-51A7-65EACE2144C4}"/>
              </a:ext>
            </a:extLst>
          </p:cNvPr>
          <p:cNvSpPr txBox="1"/>
          <p:nvPr/>
        </p:nvSpPr>
        <p:spPr>
          <a:xfrm>
            <a:off x="374984" y="365562"/>
            <a:ext cx="114420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takeaway</a:t>
            </a:r>
          </a:p>
          <a:p>
            <a:r>
              <a:rPr lang="en-US" dirty="0"/>
              <a:t>AlphaStar is one of the most successful examples of </a:t>
            </a:r>
            <a:r>
              <a:rPr lang="en-US" b="1" dirty="0"/>
              <a:t>specialized (narrow) AI</a:t>
            </a:r>
            <a:r>
              <a:rPr lang="en-US" dirty="0"/>
              <a:t>. It demonstrated that reinforcement learning can achieve world-class performance in a highly complex strategy game, but it does </a:t>
            </a:r>
            <a:r>
              <a:rPr lang="en-US" b="1" dirty="0"/>
              <a:t>not</a:t>
            </a:r>
            <a:r>
              <a:rPr lang="en-US" dirty="0"/>
              <a:t> possess general intelligence or the broad reasoning abilities that humans have.</a:t>
            </a:r>
          </a:p>
        </p:txBody>
      </p:sp>
    </p:spTree>
    <p:extLst>
      <p:ext uri="{BB962C8B-B14F-4D97-AF65-F5344CB8AC3E}">
        <p14:creationId xmlns:p14="http://schemas.microsoft.com/office/powerpoint/2010/main" val="580547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577</Words>
  <Application>Microsoft Office PowerPoint</Application>
  <PresentationFormat>Widescreen</PresentationFormat>
  <Paragraphs>117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70</cp:revision>
  <dcterms:created xsi:type="dcterms:W3CDTF">2026-06-28T17:14:58Z</dcterms:created>
  <dcterms:modified xsi:type="dcterms:W3CDTF">2026-06-29T23:46:02Z</dcterms:modified>
</cp:coreProperties>
</file>